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7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theme/theme15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presProps.xml" ContentType="application/vnd.openxmlformats-officedocument.presentationml.presProps+xml"/>
  <Override PartName="/ppt/notesMasters/notesMaster1.xml" ContentType="application/vnd.openxmlformats-officedocument.presentationml.notesMaster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7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de-DE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PlaceHolder 6"/>
          <p:cNvSpPr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45E2A932-A2D6-4D32-BF62-97799CEE751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7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Good Morning, Today we are going to present our topic: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75A5333-9D19-4AC9-851D-6CCB31BFE65C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7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Can be changed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0AFFDE00-6045-4B66-A569-6F8EA4037A2C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9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Without going into too much detail, EMH is a theory that states that the price of an asset reflects all known information about that asset. Therefore, you cannot beat the market.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will test it on Bitcoin, which due to its  volatile nature has become a speculative commodity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We will test the efficiency by training a model using just the past movements of the price to predict and we will also try to prediction based on the public reaction to bitcoin online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B15934E-2088-45B5-868C-08C40591938F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84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In order to do that we Analyse more than 1 million bitcoin tweets by .ca 200k users from Feb 2021 to August 2021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And we will the BTC data in the same time period. As you can see it does a nice rollercoaster movement.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1360" indent="-17136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GB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Daniel will share further details about the analysis 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</a:pP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BA38A9C-977D-4B1B-8CCA-3E6FA562A498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A2DD105-5FE1-419F-BD42-93384010C72C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4CA91AB-320A-4285-BC9E-DEA79A3957D6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380880" y="685800"/>
            <a:ext cx="6095520" cy="342864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68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AAF3CDFD-53D3-4236-9BA8-A96011CB665A}" type="slidenum">
              <a:rPr lang="de-DE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eg"/><Relationship Id="rId3" Type="http://schemas.openxmlformats.org/officeDocument/2006/relationships/image" Target="../media/image1.png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<Relationship Id="rId2" Type="http://schemas.openxmlformats.org/officeDocument/2006/relationships/image" Target="../media/image4.pn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foli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ild 9"/>
          <p:cNvPicPr/>
          <p:nvPr/>
        </p:nvPicPr>
        <p:blipFill>
          <a:blip r:embed="rId2"/>
          <a:stretch/>
        </p:blipFill>
        <p:spPr>
          <a:xfrm>
            <a:off x="5639040" y="0"/>
            <a:ext cx="3524040" cy="5157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" name="Bild 10"/>
          <p:cNvPicPr/>
          <p:nvPr/>
        </p:nvPicPr>
        <p:blipFill>
          <a:blip r:embed="rId3"/>
          <a:stretch/>
        </p:blipFill>
        <p:spPr>
          <a:xfrm>
            <a:off x="0" y="5040"/>
            <a:ext cx="3428640" cy="1442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295560" y="2079000"/>
            <a:ext cx="8092440" cy="14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8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title style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295560" y="4439160"/>
            <a:ext cx="2098080" cy="51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Click icon to add picture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body"/>
          </p:nvPr>
        </p:nvSpPr>
        <p:spPr>
          <a:xfrm>
            <a:off x="2453760" y="4444200"/>
            <a:ext cx="2184120" cy="517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Click icon to add picture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ischenfolie recht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body"/>
          </p:nvPr>
        </p:nvSpPr>
        <p:spPr>
          <a:xfrm>
            <a:off x="3501720" y="-5760"/>
            <a:ext cx="5653800" cy="5152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rgbClr val="262a3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de-DE" sz="12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4572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429800" y="-4320"/>
            <a:ext cx="4711320" cy="5153760"/>
          </a:xfrm>
          <a:prstGeom prst="rect">
            <a:avLst/>
          </a:prstGeom>
          <a:solidFill>
            <a:srgbClr val="ff5451">
              <a:alpha val="50000"/>
            </a:srgbClr>
          </a:solidFill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rgbClr val="262a3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de-DE" sz="12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457200"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5113800" y="1066680"/>
            <a:ext cx="3562560" cy="350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r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body"/>
          </p:nvPr>
        </p:nvSpPr>
        <p:spPr>
          <a:xfrm>
            <a:off x="0" y="0"/>
            <a:ext cx="6114600" cy="514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Click icon to add picture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title"/>
          </p:nvPr>
        </p:nvSpPr>
        <p:spPr>
          <a:xfrm>
            <a:off x="5113800" y="1447200"/>
            <a:ext cx="3562560" cy="220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r" defTabSz="457200">
              <a:lnSpc>
                <a:spcPct val="100000"/>
              </a:lnSpc>
              <a:buNone/>
            </a:pPr>
            <a:r>
              <a:rPr lang="en-US" sz="2800" b="1" u="none" strike="noStrike" cap="all">
                <a:solidFill>
                  <a:srgbClr val="ffffff"/>
                </a:solidFill>
                <a:effectLst/>
                <a:uFillTx/>
                <a:latin typeface="Arial"/>
                <a:ea typeface="MS PGothic"/>
              </a:rPr>
              <a:t>Click to edit Master title style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ischenfolie link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body"/>
          </p:nvPr>
        </p:nvSpPr>
        <p:spPr>
          <a:xfrm>
            <a:off x="-14040" y="-5760"/>
            <a:ext cx="5653800" cy="5152320"/>
          </a:xfrm>
          <a:prstGeom prst="rect">
            <a:avLst/>
          </a:prstGeom>
          <a:solidFill>
            <a:schemeClr val="accent1"/>
          </a:solidFill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rgbClr val="262a3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de-DE" sz="12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-14040" y="-4320"/>
            <a:ext cx="4711320" cy="5153760"/>
          </a:xfrm>
          <a:prstGeom prst="rect">
            <a:avLst/>
          </a:prstGeom>
          <a:solidFill>
            <a:srgbClr val="ff5451">
              <a:alpha val="50000"/>
            </a:srgbClr>
          </a:solidFill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41"/>
              </a:spcBef>
              <a:buNone/>
              <a:tabLst>
                <a:tab algn="l" pos="0"/>
              </a:tabLst>
            </a:pPr>
            <a:r>
              <a:rPr lang="en-US" sz="1200" b="0" u="none" strike="noStrike">
                <a:solidFill>
                  <a:srgbClr val="262a3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de-DE" sz="12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71960" y="1066680"/>
            <a:ext cx="3562560" cy="3506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  <a:tabLst>
                <a:tab algn="l" pos="0"/>
              </a:tabLst>
            </a:pPr>
            <a:r>
              <a:rPr lang="en-US" sz="1800" b="0" u="none" strike="noStrike">
                <a:solidFill>
                  <a:schemeClr val="lt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body"/>
          </p:nvPr>
        </p:nvSpPr>
        <p:spPr>
          <a:xfrm>
            <a:off x="2711520" y="0"/>
            <a:ext cx="6432120" cy="5149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Click icon to add picture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title"/>
          </p:nvPr>
        </p:nvSpPr>
        <p:spPr>
          <a:xfrm>
            <a:off x="471960" y="1447200"/>
            <a:ext cx="3562560" cy="2201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800" b="1" u="none" strike="noStrike" cap="all">
                <a:solidFill>
                  <a:srgbClr val="ffffff"/>
                </a:solidFill>
                <a:effectLst/>
                <a:uFillTx/>
                <a:latin typeface="Arial"/>
                <a:ea typeface="MS PGothic"/>
              </a:rPr>
              <a:t>Click to edit Master title style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Zwischenfolie ohne Bild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ild 9"/>
          <p:cNvPicPr/>
          <p:nvPr/>
        </p:nvPicPr>
        <p:blipFill>
          <a:blip r:embed="rId2"/>
          <a:stretch/>
        </p:blipFill>
        <p:spPr>
          <a:xfrm>
            <a:off x="5829480" y="0"/>
            <a:ext cx="331452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257760" y="2079000"/>
            <a:ext cx="6400440" cy="148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800" b="1" u="none" strike="noStrike" cap="all">
                <a:solidFill>
                  <a:srgbClr val="262a31"/>
                </a:solidFill>
                <a:effectLst/>
                <a:uFillTx/>
                <a:latin typeface="Arial"/>
                <a:ea typeface="MS PGothic"/>
              </a:rPr>
              <a:t>Click to edit Master title style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19" name="Gerade Verbindung 10"/>
          <p:cNvCxnSpPr/>
          <p:nvPr/>
        </p:nvCxnSpPr>
        <p:spPr>
          <a:xfrm>
            <a:off x="457200" y="4713480"/>
            <a:ext cx="57315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pic>
        <p:nvPicPr>
          <p:cNvPr id="20" name="Grafik 11"/>
          <p:cNvPicPr/>
          <p:nvPr/>
        </p:nvPicPr>
        <p:blipFill>
          <a:blip r:embed="rId3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(formatfüllend)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8640" y="8640"/>
            <a:ext cx="9135000" cy="513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Click icon to add picture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elen Dank!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Bild 10"/>
          <p:cNvPicPr/>
          <p:nvPr/>
        </p:nvPicPr>
        <p:blipFill>
          <a:blip r:embed="rId2"/>
          <a:stretch/>
        </p:blipFill>
        <p:spPr>
          <a:xfrm>
            <a:off x="0" y="5040"/>
            <a:ext cx="3428640" cy="144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3" name="Bild 9"/>
          <p:cNvPicPr/>
          <p:nvPr/>
        </p:nvPicPr>
        <p:blipFill>
          <a:blip r:embed="rId3"/>
          <a:stretch/>
        </p:blipFill>
        <p:spPr>
          <a:xfrm>
            <a:off x="5648760" y="0"/>
            <a:ext cx="3524040" cy="5157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65400" y="2079000"/>
            <a:ext cx="7984440" cy="562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8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title style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365400" y="2834640"/>
            <a:ext cx="4671720" cy="184716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21"/>
              </a:spcBef>
              <a:buNone/>
              <a:tabLst>
                <a:tab algn="l" pos="0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Click to edit Master text styles</a:t>
            </a:r>
            <a:endParaRPr lang="de-DE" sz="11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457200" indent="0" defTabSz="457200">
              <a:lnSpc>
                <a:spcPct val="100000"/>
              </a:lnSpc>
              <a:spcBef>
                <a:spcPts val="221"/>
              </a:spcBef>
              <a:buNone/>
              <a:tabLst>
                <a:tab algn="l" pos="0"/>
              </a:tabLst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Second level</a:t>
            </a:r>
            <a:endParaRPr lang="de-DE" sz="11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Inhalt mit Untertite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27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Market Efficency of BTC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| BTC movement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9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Titelmasterformat durch Klicken bearbeiten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617120"/>
            <a:ext cx="8233920" cy="2985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60640" lvl="2" indent="-2462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17840" lvl="3" indent="-2462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Vierte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63880" lvl="4" indent="-23508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Fünfte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1126080"/>
            <a:ext cx="8233920" cy="377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de-DE" sz="1400" b="0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4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 type="sldNum" idx="1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77BE3A0E-D96B-4096-B36B-0B1869893421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el und Inhalt ohne Untertite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35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Market Efficency of BTC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| BTC movement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7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Titelmasterformat durch Klicken bearbeiten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457200" y="1223640"/>
            <a:ext cx="8233920" cy="337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60640" lvl="2" indent="-2462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17840" lvl="3" indent="-2462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Vierte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63880" lvl="4" indent="-23508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Fünfte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sldNum" idx="2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E417381-63E0-4636-BC32-4165E7A2CB56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Inhalt ohne Untertitel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42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Market Efficency of BTC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| BTC movement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3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Titelmasterformat durch Klicken bearbeiten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223640"/>
            <a:ext cx="8233920" cy="337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60640" lvl="2" indent="-2462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17840" lvl="3" indent="-2462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Vierte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63880" lvl="4" indent="-23508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Fünfte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3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69D0FE23-F8A1-4AE8-911C-EDE9ED4A6656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el und Inhalt - 2 Blöck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48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Market Efficency of BTC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| BTC movement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0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Titelmasterformat durch Klicken bearbeiten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457200" y="1617120"/>
            <a:ext cx="3951720" cy="297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60640" lvl="2" indent="-2462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17840" lvl="3" indent="-2462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Vierte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Fünfte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 type="body"/>
          </p:nvPr>
        </p:nvSpPr>
        <p:spPr>
          <a:xfrm>
            <a:off x="457200" y="1139760"/>
            <a:ext cx="82292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de-DE" sz="1400" b="0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4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 type="body"/>
          </p:nvPr>
        </p:nvSpPr>
        <p:spPr>
          <a:xfrm>
            <a:off x="4724280" y="1617120"/>
            <a:ext cx="3962160" cy="297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60640" lvl="2" indent="-2462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Dritte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617840" lvl="3" indent="-2462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Vierte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Fünfte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5"/>
          <p:cNvSpPr>
            <a:spLocks noGrp="1"/>
          </p:cNvSpPr>
          <p:nvPr>
            <p:ph type="sldNum" idx="4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90BF34F-614A-4731-B1B8-02334249937B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Bildunterschrift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57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Market Efficency of BTC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| BTC movement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9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Titelmasterformat durch Klicken bearbeiten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457200" y="1243800"/>
            <a:ext cx="8229240" cy="3057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1800" b="0" u="none" strike="noStrike">
                <a:solidFill>
                  <a:srgbClr val="262a31"/>
                </a:solidFill>
                <a:effectLst/>
                <a:uFillTx/>
                <a:latin typeface="Calibri"/>
                <a:ea typeface="MS PGothic"/>
              </a:rPr>
              <a:t>Bild durch Klicken auf Symbol hinzufügen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457200" y="4368960"/>
            <a:ext cx="8229240" cy="32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0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sldNum" idx="5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0D9DD73F-EE24-4A64-84C5-F37B95C6D555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bell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65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Market Efficency of BTC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| BTC movement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Titelmasterformat durch Klicken bearbeiten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 type="body"/>
          </p:nvPr>
        </p:nvSpPr>
        <p:spPr>
          <a:xfrm>
            <a:off x="457200" y="4368960"/>
            <a:ext cx="8229240" cy="32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0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 type="body"/>
          </p:nvPr>
        </p:nvSpPr>
        <p:spPr>
          <a:xfrm>
            <a:off x="457200" y="1597680"/>
            <a:ext cx="8233920" cy="2692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Tabelle durch Klicken auf Symbol hinzufügen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4"/>
          <p:cNvSpPr>
            <a:spLocks noGrp="1"/>
          </p:cNvSpPr>
          <p:nvPr>
            <p:ph type="body"/>
          </p:nvPr>
        </p:nvSpPr>
        <p:spPr>
          <a:xfrm>
            <a:off x="457200" y="1141920"/>
            <a:ext cx="8229240" cy="361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lang="de-DE" sz="1400" b="0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4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72" name="PlaceHolder 5"/>
          <p:cNvSpPr>
            <a:spLocks noGrp="1"/>
          </p:cNvSpPr>
          <p:nvPr>
            <p:ph type="sldNum" idx="6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B259876E-D103-4016-A7F2-A17F61A3A5A6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 Diagramm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3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74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Market Efficency of BTC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| BTC movement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Titelmasterformat durch Klicken bearbeiten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457200" y="4368960"/>
            <a:ext cx="8229240" cy="32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0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body"/>
          </p:nvPr>
        </p:nvSpPr>
        <p:spPr>
          <a:xfrm>
            <a:off x="457200" y="1229040"/>
            <a:ext cx="8229240" cy="30607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Diagramm durch Klicken auf Symbol hinzufügen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cxnSp>
        <p:nvCxnSpPr>
          <p:cNvPr id="80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81" name="PlaceHolder 4"/>
          <p:cNvSpPr>
            <a:spLocks noGrp="1"/>
          </p:cNvSpPr>
          <p:nvPr>
            <p:ph type="sldNum" idx="7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6FDAB67-EAB1-4F80-8100-18F2879A3800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 Diagramme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2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83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Market Efficency of BTC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| BTC movement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Titelmasterformat durch Klicken bearbeiten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457200" y="4368960"/>
            <a:ext cx="3962160" cy="32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0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457200" y="1181160"/>
            <a:ext cx="396216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Diagramm durch Klicken auf Symbol hinzufügen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body"/>
          </p:nvPr>
        </p:nvSpPr>
        <p:spPr>
          <a:xfrm>
            <a:off x="4714920" y="4368960"/>
            <a:ext cx="3962160" cy="3297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indent="0" defTabSz="45720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0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90" name="PlaceHolder 5"/>
          <p:cNvSpPr>
            <a:spLocks noGrp="1"/>
          </p:cNvSpPr>
          <p:nvPr>
            <p:ph type="body"/>
          </p:nvPr>
        </p:nvSpPr>
        <p:spPr>
          <a:xfrm>
            <a:off x="4714920" y="1181160"/>
            <a:ext cx="3962160" cy="308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Diagramm durch Klicken auf Symbol hinzufügen</a:t>
            </a:r>
            <a:endParaRPr lang="de-DE" sz="12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91" name="PlaceHolder 6"/>
          <p:cNvSpPr>
            <a:spLocks noGrp="1"/>
          </p:cNvSpPr>
          <p:nvPr>
            <p:ph type="sldNum" idx="8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5731698-C99E-4F96-8E3A-0AB7CA5AF1BB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ld mit Text links"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" name="Gerade Verbindung 9"/>
          <p:cNvCxnSpPr/>
          <p:nvPr/>
        </p:nvCxnSpPr>
        <p:spPr>
          <a:xfrm>
            <a:off x="0" y="155520"/>
            <a:ext cx="457560" cy="360"/>
          </a:xfrm>
          <a:prstGeom prst="straightConnector1">
            <a:avLst/>
          </a:prstGeom>
          <a:ln w="3175">
            <a:solidFill>
              <a:srgbClr val="262a31"/>
            </a:solidFill>
            <a:round/>
          </a:ln>
        </p:spPr>
      </p:cxnSp>
      <p:pic>
        <p:nvPicPr>
          <p:cNvPr id="93" name="Grafik 5"/>
          <p:cNvPicPr/>
          <p:nvPr/>
        </p:nvPicPr>
        <p:blipFill>
          <a:blip r:embed="rId2"/>
          <a:stretch/>
        </p:blipFill>
        <p:spPr>
          <a:xfrm>
            <a:off x="457200" y="4769280"/>
            <a:ext cx="546840" cy="323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" name="Textfeld 7"/>
          <p:cNvSpPr/>
          <p:nvPr/>
        </p:nvSpPr>
        <p:spPr>
          <a:xfrm>
            <a:off x="457200" y="22680"/>
            <a:ext cx="700164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de-DE" sz="12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Market Efficency of BTC </a:t>
            </a:r>
            <a:r>
              <a:rPr lang="de-DE" sz="12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| BTC movement prediction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5" name="Gerade Verbindung 10"/>
          <p:cNvCxnSpPr/>
          <p:nvPr/>
        </p:nvCxnSpPr>
        <p:spPr>
          <a:xfrm>
            <a:off x="457200" y="4713480"/>
            <a:ext cx="8229960" cy="360"/>
          </a:xfrm>
          <a:prstGeom prst="straightConnector1">
            <a:avLst/>
          </a:prstGeom>
          <a:ln w="3175">
            <a:solidFill>
              <a:srgbClr val="d8413e"/>
            </a:solidFill>
            <a:round/>
          </a:ln>
        </p:spPr>
      </p:cxnSp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372600"/>
            <a:ext cx="2692080" cy="9986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Titelmasterformat durch Klicken bearbeiten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457200" y="1503720"/>
            <a:ext cx="2692080" cy="3195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171360" indent="-17136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628560" lvl="1" indent="-17136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Zweite Ebene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085760" lvl="2" indent="-171360" defTabSz="457200">
              <a:lnSpc>
                <a:spcPct val="100000"/>
              </a:lnSpc>
              <a:spcBef>
                <a:spcPts val="281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Dritte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542960" lvl="3" indent="-171360" defTabSz="457200">
              <a:lnSpc>
                <a:spcPct val="100000"/>
              </a:lnSpc>
              <a:spcBef>
                <a:spcPts val="281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Vierte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000160" lvl="4" indent="-171360" defTabSz="457200">
              <a:lnSpc>
                <a:spcPct val="100000"/>
              </a:lnSpc>
              <a:spcBef>
                <a:spcPts val="281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de-DE" sz="14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Fünfte Ebene</a:t>
            </a:r>
            <a:endParaRPr lang="de-DE" sz="14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body"/>
          </p:nvPr>
        </p:nvSpPr>
        <p:spPr>
          <a:xfrm>
            <a:off x="3352680" y="762120"/>
            <a:ext cx="5790960" cy="34891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Bild durch Klicken auf Symbol hinzufügen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body"/>
          </p:nvPr>
        </p:nvSpPr>
        <p:spPr>
          <a:xfrm>
            <a:off x="3352680" y="4368960"/>
            <a:ext cx="5333760" cy="329760"/>
          </a:xfrm>
          <a:prstGeom prst="rect">
            <a:avLst/>
          </a:prstGeom>
          <a:noFill/>
          <a:ln w="0">
            <a:noFill/>
          </a:ln>
        </p:spPr>
        <p:txBody>
          <a:bodyPr lIns="0" rIns="0" tIns="45000" bIns="45000" anchor="t">
            <a:noAutofit/>
          </a:bodyPr>
          <a:p>
            <a:pPr indent="0" defTabSz="457200">
              <a:lnSpc>
                <a:spcPct val="100000"/>
              </a:lnSpc>
              <a:spcBef>
                <a:spcPts val="201"/>
              </a:spcBef>
              <a:buNone/>
              <a:tabLst>
                <a:tab algn="l" pos="0"/>
              </a:tabLst>
            </a:pPr>
            <a:r>
              <a:rPr lang="de-DE" sz="10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Arial"/>
                <a:ea typeface="MS PGothic"/>
              </a:rPr>
              <a:t>Formatvorlagen des Textmasters bearbeiten</a:t>
            </a:r>
            <a:endParaRPr lang="de-DE" sz="10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100" name="PlaceHolder 5"/>
          <p:cNvSpPr>
            <a:spLocks noGrp="1"/>
          </p:cNvSpPr>
          <p:nvPr>
            <p:ph type="sldNum" idx="9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53C3D868-75EF-4CEC-8A75-B786B01EBC9E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jpeg"/><Relationship Id="rId3" Type="http://schemas.openxmlformats.org/officeDocument/2006/relationships/image" Target="../media/image12.jpeg"/><Relationship Id="rId4" Type="http://schemas.openxmlformats.org/officeDocument/2006/relationships/image" Target="../media/image13.jpeg"/><Relationship Id="rId5" Type="http://schemas.openxmlformats.org/officeDocument/2006/relationships/image" Target="../media/image14.jpeg"/><Relationship Id="rId6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8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95200" y="2079720"/>
            <a:ext cx="8092800" cy="14857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8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Testing Market Efficiency of BTC using ML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 type="subTitle"/>
          </p:nvPr>
        </p:nvSpPr>
        <p:spPr>
          <a:xfrm>
            <a:off x="295200" y="1606680"/>
            <a:ext cx="6400440" cy="472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b">
            <a:noAutofit/>
          </a:bodyPr>
          <a:p>
            <a:pPr indent="0" algn="ctr">
              <a:buNone/>
            </a:pPr>
            <a:endParaRPr lang="en-US" sz="1800" b="0" u="none" strike="noStrike">
              <a:solidFill>
                <a:schemeClr val="dk1"/>
              </a:solidFill>
              <a:effectLst/>
              <a:uFillTx/>
              <a:latin typeface="Arial"/>
              <a:ea typeface="MS PGothic"/>
            </a:endParaRPr>
          </a:p>
        </p:txBody>
      </p:sp>
      <p:pic>
        <p:nvPicPr>
          <p:cNvPr id="109" name="Bildplatzhalter 1"/>
          <p:cNvPicPr/>
          <p:nvPr/>
        </p:nvPicPr>
        <p:blipFill>
          <a:blip r:embed="rId1"/>
          <a:stretch/>
        </p:blipFill>
        <p:spPr>
          <a:xfrm>
            <a:off x="295200" y="4438800"/>
            <a:ext cx="2044440" cy="517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0" name="Bildplatzhalter 4"/>
          <p:cNvPicPr/>
          <p:nvPr/>
        </p:nvPicPr>
        <p:blipFill>
          <a:blip r:embed="rId2"/>
          <a:stretch/>
        </p:blipFill>
        <p:spPr>
          <a:xfrm>
            <a:off x="2473200" y="4438800"/>
            <a:ext cx="2044440" cy="517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PlaceHolder 3"/>
          <p:cNvSpPr>
            <a:spLocks noGrp="1"/>
          </p:cNvSpPr>
          <p:nvPr>
            <p:ph/>
          </p:nvPr>
        </p:nvSpPr>
        <p:spPr>
          <a:xfrm>
            <a:off x="295200" y="3600360"/>
            <a:ext cx="3744720" cy="51732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lang="de-DE" sz="1600" b="0" u="none" strike="noStrike">
                <a:solidFill>
                  <a:srgbClr val="262a31"/>
                </a:solidFill>
                <a:effectLst/>
                <a:uFillTx/>
                <a:latin typeface="Arial"/>
                <a:ea typeface="MS PGothic"/>
              </a:rPr>
              <a:t>Leipzig, 04.12.2025</a:t>
            </a:r>
            <a:endParaRPr lang="de-DE" sz="16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Agenda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457200" y="1223640"/>
            <a:ext cx="8233920" cy="337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Background + EMH  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Sentiment analysis 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Categorizing users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Prediction plans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GB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Background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457200" y="1223640"/>
            <a:ext cx="8233920" cy="337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Efficient Market Hypothesis: Essentially, Asset prices reflect all known information about the asset. Therefore, you cannot beat the market.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Bitcoin: not just a cryptocurrency but also as an asset/speculative commodity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It will be weak form efficient if the ML model cannot use past information to predict future returns. 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GB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Test if publicly available information and the reaction to that information affects the price and if the Model can predict future returns based on that information. 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13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6F1F2D7-234F-417A-AC54-0571B0AEA5C7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&lt;number&gt;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Data Set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457200" y="1063800"/>
            <a:ext cx="4011840" cy="3530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rmAutofit lnSpcReduction="9999"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Bitcoin Twitter Data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Bitcoin related tweets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Complete 2021 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15,6 million Tweets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Over 2 million Users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No Metainformation </a:t>
            </a:r>
            <a:br>
              <a:rPr sz="1800"/>
            </a:b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Users, No Labels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Bitcoin Historical Data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1-min interval Bitcoin-Price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Open, close, high, low, volume (We used close)</a:t>
            </a:r>
            <a:endParaRPr lang="de-DE" sz="18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14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lang="en-US" sz="1000" b="0" u="none" strike="noStrike">
                <a:solidFill>
                  <a:srgbClr val="d8413e"/>
                </a:solidFill>
                <a:effectLst/>
                <a:uFillTx/>
                <a:latin typeface="Calibri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7F68046A-0031-48C6-8FAA-48B353E44F1F}" type="slidenum">
              <a:rPr lang="en-US" sz="1000" b="0" u="none" strike="noStrike">
                <a:solidFill>
                  <a:srgbClr val="d8413e"/>
                </a:solidFill>
                <a:effectLst/>
                <a:uFillTx/>
                <a:latin typeface="Calibri"/>
                <a:ea typeface="MS PGothic"/>
              </a:rPr>
              <a:t>4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0" name="Grafik 6"/>
          <p:cNvPicPr/>
          <p:nvPr/>
        </p:nvPicPr>
        <p:blipFill>
          <a:blip r:embed="rId1"/>
          <a:stretch/>
        </p:blipFill>
        <p:spPr>
          <a:xfrm>
            <a:off x="3360600" y="790200"/>
            <a:ext cx="5731560" cy="2226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1" name="Textfeld 7"/>
          <p:cNvSpPr/>
          <p:nvPr/>
        </p:nvSpPr>
        <p:spPr>
          <a:xfrm flipH="1">
            <a:off x="7497720" y="2925000"/>
            <a:ext cx="1283400" cy="16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Bitcoin Chart 2021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Sentiment analysis pipeline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3" name="PlaceHolder 2"/>
          <p:cNvSpPr>
            <a:spLocks noGrp="1"/>
          </p:cNvSpPr>
          <p:nvPr>
            <p:ph type="sldNum" idx="15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lang="en-US" sz="1000" b="0" u="none" strike="noStrike">
                <a:solidFill>
                  <a:srgbClr val="d8413e"/>
                </a:solidFill>
                <a:effectLst/>
                <a:uFillTx/>
                <a:latin typeface="Calibri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48FC8D52-76CE-4894-84E1-0B41A626F72C}" type="slidenum">
              <a:rPr lang="en-US" sz="1000" b="0" u="none" strike="noStrike">
                <a:solidFill>
                  <a:srgbClr val="d8413e"/>
                </a:solidFill>
                <a:effectLst/>
                <a:uFillTx/>
                <a:latin typeface="Calibri"/>
                <a:ea typeface="MS PGothic"/>
              </a:rPr>
              <a:t>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24" name="Grafik 4"/>
          <p:cNvPicPr/>
          <p:nvPr/>
        </p:nvPicPr>
        <p:blipFill>
          <a:blip r:embed="rId1"/>
          <a:stretch/>
        </p:blipFill>
        <p:spPr>
          <a:xfrm>
            <a:off x="392040" y="1671480"/>
            <a:ext cx="8537400" cy="18003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2924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The label pipeline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6" name="PlaceHolder 2"/>
          <p:cNvSpPr>
            <a:spLocks noGrp="1"/>
          </p:cNvSpPr>
          <p:nvPr>
            <p:ph/>
          </p:nvPr>
        </p:nvSpPr>
        <p:spPr>
          <a:xfrm>
            <a:off x="457200" y="1617120"/>
            <a:ext cx="3951720" cy="29768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Embeddings: 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Roberta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</a:pPr>
            <a:endParaRPr lang="de-DE" sz="16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Labeling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Since the Data is not Labeled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Pre Trained Model for Twitter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roberta-base-sentiment-latest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Labels: { negativ, positive, neutral}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</a:pPr>
            <a:endParaRPr lang="de-DE" sz="16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pic>
        <p:nvPicPr>
          <p:cNvPr id="127" name="Inhaltsplatzhalter 7"/>
          <p:cNvPicPr/>
          <p:nvPr/>
        </p:nvPicPr>
        <p:blipFill>
          <a:blip r:embed="rId1"/>
          <a:stretch/>
        </p:blipFill>
        <p:spPr>
          <a:xfrm>
            <a:off x="5569560" y="1709280"/>
            <a:ext cx="1779120" cy="1894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8" name="PlaceHolder 3"/>
          <p:cNvSpPr>
            <a:spLocks noGrp="1"/>
          </p:cNvSpPr>
          <p:nvPr>
            <p:ph type="sldNum" idx="16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E990E5C6-BB49-4D79-972D-1589716070D0}" type="slidenum">
              <a:rPr lang="en-US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Timeline of embeddings labels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130" name="Grafik 3"/>
          <p:cNvPicPr/>
          <p:nvPr/>
        </p:nvPicPr>
        <p:blipFill>
          <a:blip r:embed="rId1"/>
          <a:stretch/>
        </p:blipFill>
        <p:spPr>
          <a:xfrm>
            <a:off x="690480" y="1193400"/>
            <a:ext cx="7763040" cy="3434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Prediction Results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ldNum" idx="17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AF72E2F8-BE2D-41F1-976A-30FE6186501C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5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33" name="Місце для вмісту 7" descr="Зображення, що містить текст, Шрифт, програмне забезпечення, знімок екрана&#10;&#10;Вміст, створений ШІ, може бути неправильним."/>
          <p:cNvPicPr/>
          <p:nvPr/>
        </p:nvPicPr>
        <p:blipFill>
          <a:blip r:embed="rId1"/>
          <a:stretch/>
        </p:blipFill>
        <p:spPr>
          <a:xfrm>
            <a:off x="4571640" y="3283200"/>
            <a:ext cx="4094640" cy="12578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4" name="Рисунок 9" descr="Зображення, що містить текст, знімок екрана, Шрифт&#10;&#10;Вміст, створений ШІ, може бути неправильним."/>
          <p:cNvPicPr/>
          <p:nvPr/>
        </p:nvPicPr>
        <p:blipFill>
          <a:blip r:embed="rId2"/>
          <a:stretch/>
        </p:blipFill>
        <p:spPr>
          <a:xfrm>
            <a:off x="477720" y="1184400"/>
            <a:ext cx="3537720" cy="1856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5" name="Рисунок 11" descr="Зображення, що містить текст, Шрифт, програмне забезпечення, знімок екрана&#10;&#10;Вміст, створений ШІ, може бути неправильним."/>
          <p:cNvPicPr/>
          <p:nvPr/>
        </p:nvPicPr>
        <p:blipFill>
          <a:blip r:embed="rId3"/>
          <a:stretch/>
        </p:blipFill>
        <p:spPr>
          <a:xfrm>
            <a:off x="477720" y="3283200"/>
            <a:ext cx="3872520" cy="1155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6" name="Рисунок 13" descr="Зображення, що містить текст, знімок екрана, Шрифт&#10;&#10;Вміст, створений ШІ, може бути неправильним."/>
          <p:cNvPicPr/>
          <p:nvPr/>
        </p:nvPicPr>
        <p:blipFill>
          <a:blip r:embed="rId4"/>
          <a:stretch/>
        </p:blipFill>
        <p:spPr>
          <a:xfrm>
            <a:off x="4554720" y="1833120"/>
            <a:ext cx="4111560" cy="1325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7" name="Рисунок 15" descr="Зображення, що містить текст, знімок екрана, Шрифт&#10;&#10;Вміст, створений ШІ, може бути неправильним."/>
          <p:cNvPicPr/>
          <p:nvPr/>
        </p:nvPicPr>
        <p:blipFill>
          <a:blip r:embed="rId5"/>
          <a:stretch/>
        </p:blipFill>
        <p:spPr>
          <a:xfrm>
            <a:off x="4571640" y="449640"/>
            <a:ext cx="4094640" cy="1255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rm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Model Performance Metrics. EVALUATION OF ML MODELS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graphicFrame>
        <p:nvGraphicFramePr>
          <p:cNvPr id="139" name="Місце для вмісту 4"/>
          <p:cNvGraphicFramePr/>
          <p:nvPr/>
        </p:nvGraphicFramePr>
        <p:xfrm>
          <a:off x="454680" y="1088640"/>
          <a:ext cx="8233920" cy="2175840"/>
        </p:xfrm>
        <a:graphic>
          <a:graphicData uri="http://schemas.openxmlformats.org/drawingml/2006/table">
            <a:tbl>
              <a:tblPr/>
              <a:tblGrid>
                <a:gridCol w="2355480"/>
                <a:gridCol w="2859480"/>
                <a:gridCol w="3018960"/>
              </a:tblGrid>
              <a:tr h="293040">
                <a:tc>
                  <a:txBody>
                    <a:bodyPr lIns="70200" rIns="50040" tIns="1004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oogle Sans Text"/>
                        </a:rPr>
                        <a:t>Model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1004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0200" rIns="50040" tIns="1004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oogle Sans Text"/>
                        </a:rPr>
                        <a:t>MAE (Next Return)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1004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 lIns="70200" rIns="50040" tIns="1004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500" b="1" u="none" strike="noStrike">
                          <a:solidFill>
                            <a:schemeClr val="lt1"/>
                          </a:solidFill>
                          <a:effectLst/>
                          <a:uFillTx/>
                          <a:latin typeface="Google Sans Text"/>
                        </a:rPr>
                        <a:t>Directional Accuracy</a:t>
                      </a:r>
                      <a:endParaRPr lang="en-US" sz="15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1004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8720">
                      <a:noFill/>
                      <a:prstDash val="solid"/>
                    </a:lnT>
                    <a:lnB w="38160">
                      <a:noFill/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  <a:tr h="237960"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LSTM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uk-UA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0.000412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uk-UA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53.85%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3816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7960"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Random Forest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uk-UA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0.000412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uk-UA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53.85%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  <a:tr h="237960"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XGBoost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uk-UA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0.000394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uk-UA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53.39%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237960"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Linear Regression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uk-UA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0.000443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uk-UA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50.97%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noFill/>
                      <a:prstDash val="solid"/>
                    </a:lnB>
                    <a:solidFill>
                      <a:schemeClr val="lt1">
                        <a:lumMod val="95000"/>
                      </a:schemeClr>
                    </a:solidFill>
                  </a:tcPr>
                </a:tc>
              </a:tr>
              <a:tr h="237960"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en-US" sz="1300" b="1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GRU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uk-UA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0.000891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  <a:tc>
                  <a:txBody>
                    <a:bodyPr lIns="70200" rIns="50040" tIns="50040" bIns="100440"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lang="uk-UA" sz="1300" b="0" u="none" strike="noStrike">
                          <a:solidFill>
                            <a:schemeClr val="dk1"/>
                          </a:solidFill>
                          <a:effectLst/>
                          <a:uFillTx/>
                          <a:latin typeface="Google Sans Text"/>
                        </a:rPr>
                        <a:t>50.78%</a:t>
                      </a:r>
                      <a:endParaRPr lang="en-US" sz="13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70200" marR="50040" marT="50040" marB="100440">
                    <a:lnL w="12240">
                      <a:noFill/>
                      <a:prstDash val="solid"/>
                    </a:lnL>
                    <a:lnR w="12240">
                      <a:noFill/>
                      <a:prstDash val="solid"/>
                    </a:lnR>
                    <a:lnT w="12240">
                      <a:noFill/>
                      <a:prstDash val="solid"/>
                    </a:lnT>
                    <a:lnB w="12240">
                      <a:noFill/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40" name="PlaceHolder 2"/>
          <p:cNvSpPr>
            <a:spLocks noGrp="1"/>
          </p:cNvSpPr>
          <p:nvPr>
            <p:ph type="sldNum" idx="18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E9842D1C-FAEB-4735-9AE8-A410125E4019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TextBox 7"/>
          <p:cNvSpPr/>
          <p:nvPr/>
        </p:nvSpPr>
        <p:spPr>
          <a:xfrm>
            <a:off x="390240" y="3296160"/>
            <a:ext cx="8518680" cy="119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Key Insight: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 * Non-linear models (LSTM, RF, XGBoost) outperformed Linear Regression (50.97%).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  <a:ea typeface="MS PGothic"/>
              </a:rPr>
              <a:t>Results indicate a persistent, though narrow, predictive signal in historical BTC data.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Місце для вмісту 5" descr="Зображення, що містить текст, знімок екрана, схема, ряд&#10;&#10;Вміст, створений ШІ, може бути неправильним."/>
          <p:cNvPicPr/>
          <p:nvPr/>
        </p:nvPicPr>
        <p:blipFill>
          <a:blip r:embed="rId1"/>
          <a:srcRect l="0" t="0" r="0" b="6253"/>
          <a:stretch/>
        </p:blipFill>
        <p:spPr>
          <a:xfrm>
            <a:off x="905760" y="364680"/>
            <a:ext cx="7331760" cy="4124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3" name="PlaceHolder 1"/>
          <p:cNvSpPr>
            <a:spLocks noGrp="1"/>
          </p:cNvSpPr>
          <p:nvPr>
            <p:ph type="sldNum" idx="19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D10FD78C-4D4F-4F14-8B11-39969F2599D6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Місце для вмісту 5" descr="Зображення, що містить знімок екрана, візерунок, Прямокутник, текст&#10;&#10;Вміст, створений ШІ, може бути неправильним."/>
          <p:cNvPicPr/>
          <p:nvPr/>
        </p:nvPicPr>
        <p:blipFill>
          <a:blip r:embed="rId1"/>
          <a:srcRect l="0" t="3302" r="0" b="12426"/>
          <a:stretch/>
        </p:blipFill>
        <p:spPr>
          <a:xfrm>
            <a:off x="1157760" y="308520"/>
            <a:ext cx="7348320" cy="41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5" name="PlaceHolder 1"/>
          <p:cNvSpPr>
            <a:spLocks noGrp="1"/>
          </p:cNvSpPr>
          <p:nvPr>
            <p:ph type="sldNum" idx="20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  <a:tabLst>
                <a:tab algn="l" pos="0"/>
              </a:tabLst>
            </a:pPr>
            <a:fld id="{74A1141C-BCED-4A97-9FF1-4178F0CA4CC9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IMPLICATIONS FOR BTC MARKET EFFICIENCY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sldNum" idx="21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3DC84AEF-986F-4D50-AC6C-D4C4682F818C}" type="slidenum">
              <a:rPr lang="de-DE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/>
          </p:nvPr>
        </p:nvSpPr>
        <p:spPr>
          <a:xfrm>
            <a:off x="457200" y="957240"/>
            <a:ext cx="8233920" cy="360324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spAutoFit/>
          </a:bodyPr>
          <a:p>
            <a:pPr indent="0" defTabSz="914400">
              <a:lnSpc>
                <a:spcPct val="100000"/>
              </a:lnSpc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uk-UA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EMH Verdict: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91440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lang="uk-UA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Reject Weak-Form Efficiency:</a:t>
            </a: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 Models successfully used past prices to predict future direction with &gt;53% accuracy.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91440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Historical information is not fully reflected in current prices, contradicting the strict EMH.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914400">
              <a:lnSpc>
                <a:spcPct val="100000"/>
              </a:lnSpc>
              <a:buClr>
                <a:srgbClr val="000000"/>
              </a:buClr>
              <a:buFont typeface="Wingdings" charset="2"/>
              <a:buChar char=""/>
            </a:pPr>
            <a:r>
              <a:rPr lang="uk-UA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Practical Outlook: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91440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The </a:t>
            </a:r>
            <a:r>
              <a:rPr lang="uk-UA" sz="1800" b="1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~3.8% edge</a:t>
            </a: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 over random guessing suggests the BTC market is "Incomplete" or "Semi-Weak" in its efficiency.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914400">
              <a:lnSpc>
                <a:spcPct val="100000"/>
              </a:lnSpc>
              <a:buClr>
                <a:srgbClr val="000000"/>
              </a:buClr>
              <a:buFont typeface="Courier New"/>
              <a:buChar char="o"/>
            </a:pPr>
            <a:r>
              <a:rPr lang="uk-UA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Profitability in real-world trading would still depend on transaction costs and execution speed.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User-Interest Cluster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/>
          </p:nvPr>
        </p:nvSpPr>
        <p:spPr>
          <a:xfrm>
            <a:off x="457200" y="1223640"/>
            <a:ext cx="8233920" cy="337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Tweet Embeddings: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Twitter4SSE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User-Lvl embedding by Averaging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Tried different PCA, K-Means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Selected: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PCA 20-dims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K= 25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Labeled with ChatGPT5.2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22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D8F0FA10-1F93-43B0-8D32-B0BFA940FF13}" type="slidenum">
              <a:rPr lang="en-US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2" name="Grafik 13" descr="Ein Bild, das Text, Screenshot, Schrift, Karte Menü enthält.&#10;&#10;KI-generierte Inhalte können fehlerhaft sein."/>
          <p:cNvPicPr/>
          <p:nvPr/>
        </p:nvPicPr>
        <p:blipFill>
          <a:blip r:embed="rId1"/>
          <a:stretch/>
        </p:blipFill>
        <p:spPr>
          <a:xfrm>
            <a:off x="4317840" y="1223640"/>
            <a:ext cx="4747320" cy="3378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rafik 7" descr="Ein Bild, das Text, Screenshot, Diagramm, Reihe enthält.&#10;&#10;KI-generierte Inhalte können fehlerhaft sein."/>
          <p:cNvPicPr/>
          <p:nvPr/>
        </p:nvPicPr>
        <p:blipFill>
          <a:blip r:embed="rId1"/>
          <a:stretch/>
        </p:blipFill>
        <p:spPr>
          <a:xfrm>
            <a:off x="5729400" y="2712240"/>
            <a:ext cx="3366720" cy="2371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User-Interest </a:t>
            </a: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Cluster </a:t>
            </a: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Evaluation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/>
          </p:nvPr>
        </p:nvSpPr>
        <p:spPr>
          <a:xfrm>
            <a:off x="457200" y="1223640"/>
            <a:ext cx="8233920" cy="337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Clusters: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 little temporal correlation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 noisy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Many Clusters with Similar Description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Reduced to 8 Meta-Clusters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1160640" lvl="2" indent="-2462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Cluster Description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sldNum" idx="23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98797EFF-E155-49BF-8332-05A4EACDB666}" type="slidenum">
              <a:rPr lang="en-US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57" name="Grafik 11" descr="Ein Bild, das Screenshot enthält.&#10;&#10;KI-generierte Inhalte können fehlerhaft sein."/>
          <p:cNvPicPr/>
          <p:nvPr/>
        </p:nvPicPr>
        <p:blipFill>
          <a:blip r:embed="rId2"/>
          <a:stretch/>
        </p:blipFill>
        <p:spPr>
          <a:xfrm>
            <a:off x="5729400" y="119520"/>
            <a:ext cx="3169440" cy="251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rafik 5" descr="Ein Bild, das Text, Screenshot, Diagramm, Reihe enthält.&#10;&#10;KI-generierte Inhalte können fehlerhaft sein."/>
          <p:cNvPicPr/>
          <p:nvPr/>
        </p:nvPicPr>
        <p:blipFill>
          <a:blip r:embed="rId1"/>
          <a:stretch/>
        </p:blipFill>
        <p:spPr>
          <a:xfrm>
            <a:off x="4991760" y="2737800"/>
            <a:ext cx="4056480" cy="2322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9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User-Interest Cluster Evaluation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0" name="PlaceHolder 2"/>
          <p:cNvSpPr>
            <a:spLocks noGrp="1"/>
          </p:cNvSpPr>
          <p:nvPr>
            <p:ph/>
          </p:nvPr>
        </p:nvSpPr>
        <p:spPr>
          <a:xfrm>
            <a:off x="457200" y="1223640"/>
            <a:ext cx="8233920" cy="337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Clusters: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Less noisy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little temporal dependence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60"/>
              </a:spcBef>
              <a:buNone/>
            </a:pP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  <p:sp>
        <p:nvSpPr>
          <p:cNvPr id="161" name="PlaceHolder 3"/>
          <p:cNvSpPr>
            <a:spLocks noGrp="1"/>
          </p:cNvSpPr>
          <p:nvPr>
            <p:ph type="sldNum" idx="24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41136B2-2F27-4D27-97D9-690147F8C78B}" type="slidenum">
              <a:rPr lang="en-US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2" name="Grafik 4" descr="Ein Bild, das Screenshot, Text enthält.&#10;&#10;KI-generierte Inhalte können fehlerhaft sein."/>
          <p:cNvPicPr/>
          <p:nvPr/>
        </p:nvPicPr>
        <p:blipFill>
          <a:blip r:embed="rId2"/>
          <a:stretch/>
        </p:blipFill>
        <p:spPr>
          <a:xfrm>
            <a:off x="5800680" y="304920"/>
            <a:ext cx="3069000" cy="24328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63" name="Grafik 10" descr="Ein Bild, das Text, Schrift, Screenshot enthält.&#10;&#10;KI-generierte Inhalte können fehlerhaft sein."/>
          <p:cNvPicPr/>
          <p:nvPr/>
        </p:nvPicPr>
        <p:blipFill>
          <a:blip r:embed="rId3"/>
          <a:stretch/>
        </p:blipFill>
        <p:spPr>
          <a:xfrm>
            <a:off x="259200" y="3203640"/>
            <a:ext cx="4732200" cy="14324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rafik 11" descr="Ein Bild, das Text, Screenshot, Schrift, Zahl enthält.&#10;&#10;KI-generierte Inhalte können fehlerhaft sein."/>
          <p:cNvPicPr/>
          <p:nvPr/>
        </p:nvPicPr>
        <p:blipFill>
          <a:blip r:embed="rId1"/>
          <a:stretch/>
        </p:blipFill>
        <p:spPr>
          <a:xfrm>
            <a:off x="286200" y="2504520"/>
            <a:ext cx="3916080" cy="233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User-Clustering Effect on Price Prediction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/>
          </p:nvPr>
        </p:nvSpPr>
        <p:spPr>
          <a:xfrm>
            <a:off x="457200" y="1223640"/>
            <a:ext cx="8233920" cy="3378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uncorrelated with return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little corr between clusters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Model performance:</a:t>
            </a:r>
            <a:endParaRPr lang="de-DE" sz="18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Little influence</a:t>
            </a:r>
            <a:endParaRPr lang="de-DE" sz="16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sldNum" idx="25"/>
          </p:nvPr>
        </p:nvSpPr>
        <p:spPr>
          <a:xfrm>
            <a:off x="7948440" y="4879080"/>
            <a:ext cx="742680" cy="204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algn="l" pos="0"/>
              </a:tabLst>
              <a:defRPr lang="en-US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algn="l" pos="0"/>
              </a:tabLst>
            </a:pPr>
            <a:fld id="{C5B5D5EB-7AF8-4647-A96D-14D179AB230C}" type="slidenum">
              <a:rPr lang="en-US" sz="1000" b="0" u="none" strike="noStrike">
                <a:solidFill>
                  <a:srgbClr val="d8413e"/>
                </a:solidFill>
                <a:effectLst/>
                <a:uFillTx/>
                <a:latin typeface="Arial"/>
                <a:ea typeface="MS PGothic"/>
              </a:rPr>
              <a:t>9</a:t>
            </a:fld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68" name="Grafik 9" descr="Ein Bild, das Screenshot, Quadrat, Rechteck, Muster enthält.&#10;&#10;KI-generierte Inhalte können fehlerhaft sein."/>
          <p:cNvPicPr/>
          <p:nvPr/>
        </p:nvPicPr>
        <p:blipFill>
          <a:blip r:embed="rId2"/>
          <a:stretch/>
        </p:blipFill>
        <p:spPr>
          <a:xfrm>
            <a:off x="4191840" y="1018440"/>
            <a:ext cx="4804200" cy="3819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PlaceHolder 1"/>
          <p:cNvSpPr>
            <a:spLocks noGrp="1"/>
          </p:cNvSpPr>
          <p:nvPr>
            <p:ph type="title"/>
          </p:nvPr>
        </p:nvSpPr>
        <p:spPr>
          <a:xfrm>
            <a:off x="457200" y="304920"/>
            <a:ext cx="8233920" cy="758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 cap="all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Further Changes</a:t>
            </a:r>
            <a:endParaRPr lang="de-DE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2"/>
          <p:cNvSpPr>
            <a:spLocks noGrp="1"/>
          </p:cNvSpPr>
          <p:nvPr>
            <p:ph type="subTitle"/>
          </p:nvPr>
        </p:nvSpPr>
        <p:spPr>
          <a:xfrm>
            <a:off x="452880" y="964440"/>
            <a:ext cx="8233920" cy="337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marL="270000" indent="-270000" defTabSz="457200">
              <a:lnSpc>
                <a:spcPct val="100000"/>
              </a:lnSpc>
              <a:spcBef>
                <a:spcPts val="360"/>
              </a:spcBef>
              <a:buClr>
                <a:srgbClr val="d8413e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Using a different model 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0000" indent="-27000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twitter-roberta-base-sentiment-latest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70000" indent="0" defTabSz="457200">
              <a:lnSpc>
                <a:spcPct val="100000"/>
              </a:lnSpc>
              <a:spcBef>
                <a:spcPts val="360"/>
              </a:spcBef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 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Since the Data is not Labeled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Pre Trained Model for Twitter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twitter-roberta-base-sentiment-latest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14240" lvl="1" indent="-257040" defTabSz="457200">
              <a:lnSpc>
                <a:spcPct val="100000"/>
              </a:lnSpc>
              <a:spcBef>
                <a:spcPts val="320"/>
              </a:spcBef>
              <a:buClr>
                <a:srgbClr val="d8413e"/>
              </a:buClr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Arial"/>
                <a:ea typeface="MS PGothic"/>
              </a:rPr>
              <a:t>Labels: { negativ, positive, neutral}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1" name=""/>
          <p:cNvPicPr/>
          <p:nvPr/>
        </p:nvPicPr>
        <p:blipFill>
          <a:blip r:embed="rId1"/>
          <a:srcRect l="65" t="6476" r="2634" b="8450"/>
          <a:stretch/>
        </p:blipFill>
        <p:spPr>
          <a:xfrm>
            <a:off x="1828800" y="1026000"/>
            <a:ext cx="7315200" cy="2174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/>
          </p:cNvSpPr>
          <p:nvPr>
            <p:ph type="title"/>
          </p:nvPr>
        </p:nvSpPr>
        <p:spPr>
          <a:xfrm>
            <a:off x="365040" y="1584360"/>
            <a:ext cx="7984800" cy="561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lang="de-DE" sz="2800" b="1" u="none" strike="noStrike" cap="all">
                <a:solidFill>
                  <a:schemeClr val="dk1"/>
                </a:solidFill>
                <a:effectLst/>
                <a:uFillTx/>
                <a:latin typeface="Arial"/>
              </a:rPr>
              <a:t>Thanks a lot for your attention</a:t>
            </a:r>
            <a:endParaRPr lang="de-DE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3" name="PlaceHolder 2"/>
          <p:cNvSpPr>
            <a:spLocks noGrp="1"/>
          </p:cNvSpPr>
          <p:nvPr>
            <p:ph/>
          </p:nvPr>
        </p:nvSpPr>
        <p:spPr>
          <a:xfrm>
            <a:off x="365040" y="2449440"/>
            <a:ext cx="6924240" cy="245700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de-DE" sz="16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de-DE" sz="16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  <a:p>
            <a:pPr indent="0" defTabSz="45720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endParaRPr lang="de-DE" sz="1600" b="0" u="none" strike="noStrike">
              <a:solidFill>
                <a:srgbClr val="262a31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Master1_UniLeipzig_PPT Vorlage">
  <a:themeElements>
    <a:clrScheme name="Universität Leipzig">
      <a:dk1>
        <a:srgbClr val="000000"/>
      </a:dk1>
      <a:lt1>
        <a:srgbClr val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ster2_UniLeipzig_PPT Vorlage">
  <a:themeElements>
    <a:clrScheme name="Universität Leipzig">
      <a:dk1>
        <a:srgbClr val="000000"/>
      </a:dk1>
      <a:lt1>
        <a:srgbClr val="ffffff"/>
      </a:lt1>
      <a:dk2>
        <a:srgbClr val="262a31"/>
      </a:dk2>
      <a:lt2>
        <a:srgbClr val="ffffff"/>
      </a:lt2>
      <a:accent1>
        <a:srgbClr val="b02f2c"/>
      </a:accent1>
      <a:accent2>
        <a:srgbClr val="d64242"/>
      </a:accent2>
      <a:accent3>
        <a:srgbClr val="8ac2d1"/>
      </a:accent3>
      <a:accent4>
        <a:srgbClr val="262a31"/>
      </a:accent4>
      <a:accent5>
        <a:srgbClr val="ea9e9e"/>
      </a:accent5>
      <a:accent6>
        <a:srgbClr val="c9c9c9"/>
      </a:accent6>
      <a:hlink>
        <a:srgbClr val="b02f2c"/>
      </a:hlink>
      <a:folHlink>
        <a:srgbClr val="e06e6e"/>
      </a:folHlink>
    </a:clrScheme>
    <a:fontScheme name="Arial">
      <a:majorFont>
        <a:latin typeface="Arial" panose="020B0604020202020204" pitchFamily="0" charset="1"/>
        <a:ea typeface=""/>
        <a:cs typeface=""/>
      </a:majorFont>
      <a:minorFont>
        <a:latin typeface="Arial" panose="020B060402020202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_Musterfoliensatz_16zu9</Template>
  <TotalTime>5</TotalTime>
  <Application>LibreOffice/25.8.4.2$Linux_X86_64 LibreOffice_project/0366609b1de41a39e1896ae41e33c673f2a73802</Application>
  <AppVersion>15.0000</AppVersion>
  <Words>384</Words>
  <Paragraphs>101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2025-11-28T16:01:54Z</dcterms:created>
  <dc:creator>Valecha, Rohit Naresh</dc:creator>
  <dc:description/>
  <dc:language>en-US</dc:language>
  <cp:lastModifiedBy/>
  <cp:lastPrinted>2017-09-28T12:33:25Z</cp:lastPrinted>
  <dcterms:modified xsi:type="dcterms:W3CDTF">2026-02-17T17:59:24Z</dcterms:modified>
  <cp:revision>25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4</vt:i4>
  </property>
  <property fmtid="{D5CDD505-2E9C-101B-9397-08002B2CF9AE}" pid="3" name="PresentationFormat">
    <vt:lpwstr>Bildschirmpräsentation (16:9)</vt:lpwstr>
  </property>
  <property fmtid="{D5CDD505-2E9C-101B-9397-08002B2CF9AE}" pid="4" name="Slides">
    <vt:i4>13</vt:i4>
  </property>
</Properties>
</file>
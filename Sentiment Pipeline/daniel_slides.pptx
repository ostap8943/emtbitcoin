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881" r:id="rId2"/>
  </p:sldMasterIdLst>
  <p:notesMasterIdLst>
    <p:notesMasterId r:id="rId7"/>
  </p:notesMasterIdLst>
  <p:handoutMasterIdLst>
    <p:handoutMasterId r:id="rId8"/>
  </p:handoutMasterIdLst>
  <p:sldIdLst>
    <p:sldId id="309" r:id="rId3"/>
    <p:sldId id="306" r:id="rId4"/>
    <p:sldId id="310" r:id="rId5"/>
    <p:sldId id="311" r:id="rId6"/>
  </p:sldIdLst>
  <p:sldSz cx="9144000" cy="5143500" type="screen16x9"/>
  <p:notesSz cx="6858000" cy="9144000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51"/>
    <a:srgbClr val="262A31"/>
    <a:srgbClr val="B2B2B2"/>
    <a:srgbClr val="C9C9C9"/>
    <a:srgbClr val="969696"/>
    <a:srgbClr val="4D4D4D"/>
    <a:srgbClr val="242424"/>
    <a:srgbClr val="79B2D4"/>
    <a:srgbClr val="91B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513" autoAdjust="0"/>
  </p:normalViewPr>
  <p:slideViewPr>
    <p:cSldViewPr snapToGrid="0" snapToObjects="1" showGuides="1">
      <p:cViewPr varScale="1">
        <p:scale>
          <a:sx n="92" d="100"/>
          <a:sy n="92" d="100"/>
        </p:scale>
        <p:origin x="590" y="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D1D50A-91A0-4313-AF41-8FA8C1A6F672}" type="datetimeFigureOut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17.02.2026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35DF71-E1E2-47C3-B9FA-47C07B346B8B}" type="slidenum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005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E3895C-9893-433E-BD86-ABF19E357674}" type="datetimeFigureOut">
              <a:rPr lang="de-DE" altLang="de-DE" smtClean="0"/>
              <a:pPr>
                <a:defRPr/>
              </a:pPr>
              <a:t>17.02.2026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Mastertextformat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175416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order to do that we Analyse more than 1 million bitcoin tweets by .ca 200k users from Feb 2021 to August 2021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And we will the BTC data in the same time period. As you can see it does a nice rollercoaster movement.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Daniel will share further details about </a:t>
            </a:r>
            <a:r>
              <a:rPr lang="en-GB"/>
              <a:t>the analysis </a:t>
            </a: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1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60104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2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507818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3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458703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4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600932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002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5093"/>
            <a:ext cx="3428998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</p:spPr>
        <p:txBody>
          <a:bodyPr anchor="t"/>
          <a:lstStyle>
            <a:lvl1pPr>
              <a:defRPr sz="2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1"/>
          </p:nvPr>
        </p:nvSpPr>
        <p:spPr>
          <a:xfrm>
            <a:off x="295687" y="4439286"/>
            <a:ext cx="2098597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2"/>
          </p:nvPr>
        </p:nvSpPr>
        <p:spPr>
          <a:xfrm>
            <a:off x="2453698" y="4444369"/>
            <a:ext cx="2184476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641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>
            <a:off x="3501688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>
            <a:off x="442971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rgbClr val="FF5451"/>
                  </a:solidFill>
                </a:ln>
                <a:solidFill>
                  <a:srgbClr val="FF545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13728" y="1066801"/>
            <a:ext cx="3562911" cy="350998"/>
          </a:xfrm>
        </p:spPr>
        <p:txBody>
          <a:bodyPr anchor="b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13728" y="1447164"/>
            <a:ext cx="3562911" cy="2201545"/>
          </a:xfrm>
        </p:spPr>
        <p:txBody>
          <a:bodyPr anchor="t"/>
          <a:lstStyle>
            <a:lvl1pPr algn="r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19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 flipH="1">
            <a:off x="-14439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 flipH="1">
            <a:off x="-1443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1878" y="1066801"/>
            <a:ext cx="3562911" cy="350998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</p:spPr>
        <p:txBody>
          <a:bodyPr anchor="t"/>
          <a:lstStyle>
            <a:lvl1pPr algn="l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87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0"/>
            <a:ext cx="33147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</p:spPr>
        <p:txBody>
          <a:bodyPr anchor="t"/>
          <a:lstStyle>
            <a:lvl1pPr>
              <a:defRPr sz="2800">
                <a:solidFill>
                  <a:srgbClr val="262A3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262A3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5731459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formatfü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8468" y="8468"/>
            <a:ext cx="9135532" cy="5135032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0379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5093"/>
            <a:ext cx="3428998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28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Inhaltsplatzhalter 3"/>
          <p:cNvSpPr>
            <a:spLocks noGrp="1"/>
          </p:cNvSpPr>
          <p:nvPr>
            <p:ph sz="half" idx="2"/>
          </p:nvPr>
        </p:nvSpPr>
        <p:spPr>
          <a:xfrm>
            <a:off x="365495" y="2834640"/>
            <a:ext cx="4672172" cy="1847427"/>
          </a:xfrm>
        </p:spPr>
        <p:txBody>
          <a:bodyPr>
            <a:noAutofit/>
          </a:bodyPr>
          <a:lstStyle>
            <a:lvl1pPr marL="0" indent="0">
              <a:buNone/>
              <a:defRPr sz="1100" baseline="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646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248790C2-FB8D-4AD1-BFB1-8D82BB9A4283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43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1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32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9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6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rgbClr val="262A31"/>
                </a:solidFill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43582BE0-97CE-412F-80F1-16DC6BED178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4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abellenplatzhalter 10"/>
          <p:cNvSpPr>
            <a:spLocks noGrp="1"/>
          </p:cNvSpPr>
          <p:nvPr>
            <p:ph type="tbl" sz="quarter" idx="16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de-DE" noProof="0"/>
              <a:t>Tabelle durch Klicken auf Symbol hinzufügen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0321171-B06E-4659-9CF5-7D6E520FDC1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cxnSp>
        <p:nvCxnSpPr>
          <p:cNvPr id="16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D98C2DD5-50CB-445D-B765-8AD2D4C5531F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20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Diagrammplatzhalter 7"/>
          <p:cNvSpPr>
            <a:spLocks noGrp="1"/>
          </p:cNvSpPr>
          <p:nvPr>
            <p:ph type="chart" sz="quarter" idx="21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200"/>
            </a:lvl1pPr>
          </a:lstStyle>
          <a:p>
            <a:pPr lvl="0"/>
            <a:r>
              <a:rPr lang="de-DE" noProof="0"/>
              <a:t>Diagramm durch Klicken auf Symbol hinzufügen</a:t>
            </a:r>
            <a:endParaRPr lang="de-DE" noProof="0" dirty="0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64035955-D4DF-4360-912A-517416A0AD74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5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57200" y="372533"/>
            <a:ext cx="2692400" cy="999067"/>
          </a:xfrm>
          <a:prstGeom prst="rect">
            <a:avLst/>
          </a:prstGeom>
        </p:spPr>
        <p:txBody>
          <a:bodyPr anchor="b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6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9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8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SUBHEADLINE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84" r:id="rId2"/>
    <p:sldLayoutId id="2147483885" r:id="rId3"/>
    <p:sldLayoutId id="2147483870" r:id="rId4"/>
    <p:sldLayoutId id="2147483877" r:id="rId5"/>
    <p:sldLayoutId id="2147483879" r:id="rId6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/>
          <p:cNvCxnSpPr/>
          <p:nvPr userDrawn="1"/>
        </p:nvCxnSpPr>
        <p:spPr>
          <a:xfrm>
            <a:off x="0" y="155575"/>
            <a:ext cx="457200" cy="0"/>
          </a:xfrm>
          <a:prstGeom prst="line">
            <a:avLst/>
          </a:prstGeom>
          <a:ln w="3175" cmpd="sng">
            <a:solidFill>
              <a:srgbClr val="262A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457200" y="22671"/>
            <a:ext cx="7001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Market Efficency of BTC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| BTC movement prediction</a:t>
            </a:r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80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82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8" r:id="rId8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8060-F248-51E1-A8E1-433ACEA7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AE4F2-77D2-958D-72F7-C9A4A49E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</p:spPr>
        <p:txBody>
          <a:bodyPr anchor="b">
            <a:normAutofit/>
          </a:bodyPr>
          <a:lstStyle/>
          <a:p>
            <a:r>
              <a:rPr lang="en-GB" noProof="0" dirty="0"/>
              <a:t>Data Set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A3CE53-A90A-E2A1-282E-5A14C1E49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624"/>
            <a:ext cx="4012250" cy="3530601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noProof="0" dirty="0"/>
              <a:t>Bitcoin Twitter Data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GB" sz="1800" noProof="0" dirty="0"/>
              <a:t>Bitcoin related tweets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GB" sz="1800" noProof="0" dirty="0"/>
              <a:t>Complete 2021 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GB" sz="1800" dirty="0"/>
              <a:t>15,6 </a:t>
            </a:r>
            <a:r>
              <a:rPr lang="en-GB" sz="1800" noProof="0" dirty="0"/>
              <a:t>million Tweets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GB" sz="1800" dirty="0"/>
              <a:t>Over 2 million Users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GB" sz="1800" dirty="0"/>
              <a:t>No Metainformation </a:t>
            </a:r>
            <a:br>
              <a:rPr lang="en-GB" sz="1800" dirty="0"/>
            </a:br>
            <a:r>
              <a:rPr lang="en-GB" sz="1800" dirty="0"/>
              <a:t>Users, No Labels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sz="1800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noProof="0" dirty="0"/>
              <a:t>Bitcoin Historical Data</a:t>
            </a:r>
          </a:p>
          <a:p>
            <a:pPr lvl="1"/>
            <a:r>
              <a:rPr lang="en-GB" sz="1800" noProof="0" dirty="0"/>
              <a:t>1-min interval Bitcoin-Price</a:t>
            </a:r>
          </a:p>
          <a:p>
            <a:pPr lvl="1"/>
            <a:r>
              <a:rPr lang="en-GB" sz="1800" dirty="0"/>
              <a:t>Open, close, high, low, volume (We used close)</a:t>
            </a:r>
            <a:endParaRPr lang="en-GB" sz="1800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4D302F-9838-B72E-ACDC-1FB438234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AFCF9BA9-AB08-46E1-A235-3AC71B2FE2C1}" type="slidenum">
              <a:rPr lang="en-GB" sz="1000" noProof="0" smtClean="0">
                <a:solidFill>
                  <a:srgbClr val="D8413E"/>
                </a:solidFill>
              </a:rPr>
              <a:pPr>
                <a:spcAft>
                  <a:spcPts val="600"/>
                </a:spcAft>
                <a:defRPr/>
              </a:pPr>
              <a:t>1</a:t>
            </a:fld>
            <a:endParaRPr lang="en-GB" sz="1000" noProof="0">
              <a:solidFill>
                <a:srgbClr val="D8413E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B88F73B-C23A-9B94-B94E-19E0686C5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716" y="790300"/>
            <a:ext cx="5732094" cy="222749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84EADCB-D430-E9F9-1521-1AA40F4D3C87}"/>
              </a:ext>
            </a:extLst>
          </p:cNvPr>
          <p:cNvSpPr txBox="1"/>
          <p:nvPr/>
        </p:nvSpPr>
        <p:spPr>
          <a:xfrm flipH="1">
            <a:off x="7498093" y="2924901"/>
            <a:ext cx="128370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100" i="0" dirty="0">
                <a:latin typeface="+mn-lt"/>
                <a:cs typeface="Arial" panose="020B0604020202020204" pitchFamily="34" charset="0"/>
              </a:rPr>
              <a:t>Bitcoin Chart 2021</a:t>
            </a:r>
          </a:p>
        </p:txBody>
      </p:sp>
    </p:spTree>
    <p:extLst>
      <p:ext uri="{BB962C8B-B14F-4D97-AF65-F5344CB8AC3E}">
        <p14:creationId xmlns:p14="http://schemas.microsoft.com/office/powerpoint/2010/main" val="3694907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A87F1B1-08AE-B901-7C42-8F25D067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</p:spPr>
        <p:txBody>
          <a:bodyPr/>
          <a:lstStyle/>
          <a:p>
            <a:r>
              <a:rPr lang="en-US" dirty="0"/>
              <a:t>Sentiment analysis pipeline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65871E-180C-01C0-F5FD-585E03ACE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</a:rPr>
              <a:pPr>
                <a:spcAft>
                  <a:spcPts val="600"/>
                </a:spcAft>
                <a:defRPr/>
              </a:pPr>
              <a:t>2</a:t>
            </a:fld>
            <a:endParaRPr lang="de-DE" altLang="de-DE" sz="1000">
              <a:solidFill>
                <a:srgbClr val="D8413E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BC49B5-84E3-86C6-1633-A86889076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5" y="1671346"/>
            <a:ext cx="8537754" cy="180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5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1229E2-5BCB-4686-34F9-ADE78430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label</a:t>
            </a:r>
            <a:r>
              <a:rPr lang="de-DE" dirty="0"/>
              <a:t> </a:t>
            </a:r>
            <a:r>
              <a:rPr lang="de-DE" dirty="0" err="1"/>
              <a:t>pipeline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5E6EB9-3A1D-DEBA-0426-6A5AB5C4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Embeddings</a:t>
            </a:r>
            <a:r>
              <a:rPr lang="de-DE" dirty="0"/>
              <a:t>: </a:t>
            </a:r>
          </a:p>
          <a:p>
            <a:pPr lvl="1"/>
            <a:r>
              <a:rPr lang="de-DE" dirty="0"/>
              <a:t>Roberta</a:t>
            </a:r>
          </a:p>
          <a:p>
            <a:pPr lvl="1"/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Labeling</a:t>
            </a:r>
            <a:endParaRPr lang="de-DE" dirty="0"/>
          </a:p>
          <a:p>
            <a:pPr lvl="1"/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Data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Labeled</a:t>
            </a:r>
            <a:endParaRPr lang="de-DE" dirty="0"/>
          </a:p>
          <a:p>
            <a:pPr lvl="1"/>
            <a:r>
              <a:rPr lang="de-DE" dirty="0" err="1"/>
              <a:t>Pre</a:t>
            </a:r>
            <a:r>
              <a:rPr lang="de-DE" dirty="0"/>
              <a:t> </a:t>
            </a:r>
            <a:r>
              <a:rPr lang="de-DE" dirty="0" err="1"/>
              <a:t>Trained</a:t>
            </a:r>
            <a:r>
              <a:rPr lang="de-DE" dirty="0"/>
              <a:t> Model </a:t>
            </a:r>
            <a:r>
              <a:rPr lang="de-DE" dirty="0" err="1"/>
              <a:t>for</a:t>
            </a:r>
            <a:r>
              <a:rPr lang="de-DE" dirty="0"/>
              <a:t> Twitter</a:t>
            </a:r>
          </a:p>
          <a:p>
            <a:pPr lvl="1"/>
            <a:r>
              <a:rPr lang="de-DE" dirty="0" err="1"/>
              <a:t>twitter</a:t>
            </a:r>
            <a:r>
              <a:rPr lang="de-DE" dirty="0"/>
              <a:t>-</a:t>
            </a:r>
            <a:r>
              <a:rPr lang="de-DE" dirty="0" err="1"/>
              <a:t>roberta</a:t>
            </a:r>
            <a:r>
              <a:rPr lang="de-DE" dirty="0"/>
              <a:t>-base-sentiment-</a:t>
            </a:r>
            <a:r>
              <a:rPr lang="de-DE" dirty="0" err="1"/>
              <a:t>latest</a:t>
            </a:r>
            <a:endParaRPr lang="de-DE" dirty="0"/>
          </a:p>
          <a:p>
            <a:pPr lvl="1"/>
            <a:r>
              <a:rPr lang="de-DE" dirty="0"/>
              <a:t>Labels: { negativ, positive, neutral}</a:t>
            </a:r>
          </a:p>
          <a:p>
            <a:pPr lvl="1"/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33B8AA2A-FC34-7FF7-EB8D-7A3246BA8007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5569528" y="1709281"/>
            <a:ext cx="1779556" cy="1894704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638D36-80C7-C46C-0B58-73494E9A4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3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1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202AE-A025-449B-AB1E-1C69AFAD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embeddings</a:t>
            </a:r>
            <a:r>
              <a:rPr lang="de-DE" dirty="0"/>
              <a:t> </a:t>
            </a:r>
            <a:r>
              <a:rPr lang="de-DE" dirty="0" err="1"/>
              <a:t>labels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F50D67C-EA40-D379-7E12-73F51F50F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64" y="1193466"/>
            <a:ext cx="7763271" cy="3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44286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1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AF34A279-AF28-43F2-ABC2-47D9B1B138CB}" vid="{DD2B7E31-7D7E-491A-8902-5469ADF73115}"/>
    </a:ext>
  </a:extLst>
</a:theme>
</file>

<file path=ppt/theme/theme2.xml><?xml version="1.0" encoding="utf-8"?>
<a:theme xmlns:a="http://schemas.openxmlformats.org/drawingml/2006/main" name="Master2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i="0" smtClean="0">
            <a:latin typeface="+mn-lt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AF34A279-AF28-43F2-ABC2-47D9B1B138CB}" vid="{493468B7-7E68-4CF9-8FE6-B4E896B34C69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_Musterfoliensatz_16zu9</Template>
  <TotalTime>0</TotalTime>
  <Words>144</Words>
  <Application>Microsoft Office PowerPoint</Application>
  <PresentationFormat>Bildschirmpräsentation (16:9)</PresentationFormat>
  <Paragraphs>33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Arial</vt:lpstr>
      <vt:lpstr>Calibri</vt:lpstr>
      <vt:lpstr>Futura</vt:lpstr>
      <vt:lpstr>Symbol</vt:lpstr>
      <vt:lpstr>Master1_UniLeipzig_PPT Vorlage</vt:lpstr>
      <vt:lpstr>Master2_UniLeipzig_PPT Vorlage</vt:lpstr>
      <vt:lpstr>Data Set</vt:lpstr>
      <vt:lpstr>Sentiment analysis pipeline</vt:lpstr>
      <vt:lpstr>The label pipeline</vt:lpstr>
      <vt:lpstr>Timeline of embeddings labels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Valecha, Rohit Naresh</dc:creator>
  <cp:lastModifiedBy>Daniel Zurek</cp:lastModifiedBy>
  <cp:revision>23</cp:revision>
  <cp:lastPrinted>2017-09-28T12:33:25Z</cp:lastPrinted>
  <dcterms:created xsi:type="dcterms:W3CDTF">2025-11-28T16:01:54Z</dcterms:created>
  <dcterms:modified xsi:type="dcterms:W3CDTF">2026-02-17T13:15:07Z</dcterms:modified>
</cp:coreProperties>
</file>
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881" r:id="rId2"/>
  </p:sldMasterIdLst>
  <p:notesMasterIdLst>
    <p:notesMasterId r:id="rId8"/>
  </p:notesMasterIdLst>
  <p:handoutMasterIdLst>
    <p:handoutMasterId r:id="rId9"/>
  </p:handoutMasterIdLst>
  <p:sldIdLst>
    <p:sldId id="310" r:id="rId3"/>
    <p:sldId id="311" r:id="rId4"/>
    <p:sldId id="313" r:id="rId5"/>
    <p:sldId id="314" r:id="rId6"/>
    <p:sldId id="312" r:id="rId7"/>
  </p:sldIdLst>
  <p:sldSz cx="9144000" cy="5143500" type="screen16x9"/>
  <p:notesSz cx="6858000" cy="9144000"/>
  <p:defaultTextStyle>
    <a:defPPr>
      <a:defRPr lang="de-DE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451"/>
    <a:srgbClr val="262A31"/>
    <a:srgbClr val="B2B2B2"/>
    <a:srgbClr val="C9C9C9"/>
    <a:srgbClr val="969696"/>
    <a:srgbClr val="4D4D4D"/>
    <a:srgbClr val="242424"/>
    <a:srgbClr val="79B2D4"/>
    <a:srgbClr val="91B7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6513" autoAdjust="0"/>
  </p:normalViewPr>
  <p:slideViewPr>
    <p:cSldViewPr snapToGrid="0" snapToObjects="1" showGuides="1">
      <p:cViewPr varScale="1">
        <p:scale>
          <a:sx n="114" d="100"/>
          <a:sy n="114" d="100"/>
        </p:scale>
        <p:origin x="1560" y="9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85" d="100"/>
          <a:sy n="85" d="100"/>
        </p:scale>
        <p:origin x="38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2D1D50A-91A0-4313-AF41-8FA8C1A6F672}" type="datetimeFigureOut">
              <a:rPr lang="de-DE" altLang="de-DE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17.02.2026</a:t>
            </a:fld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835DF71-E1E2-47C3-B9FA-47C07B346B8B}" type="slidenum">
              <a:rPr lang="de-DE" altLang="de-DE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‹№›</a:t>
            </a:fld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7005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1E3895C-9893-433E-BD86-ABF19E357674}" type="datetimeFigureOut">
              <a:rPr lang="de-DE" altLang="de-DE" smtClean="0"/>
              <a:pPr>
                <a:defRPr/>
              </a:pPr>
              <a:t>17.02.2026</a:t>
            </a:fld>
            <a:endParaRPr lang="de-DE" alt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Mastertextformat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‹№›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7175416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002" y="0"/>
            <a:ext cx="3524250" cy="515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Bild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5093"/>
            <a:ext cx="3428998" cy="1442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95687" y="2078847"/>
            <a:ext cx="8092705" cy="1487313"/>
          </a:xfrm>
        </p:spPr>
        <p:txBody>
          <a:bodyPr anchor="t"/>
          <a:lstStyle>
            <a:lvl1pPr>
              <a:defRPr sz="2800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95687" y="1606876"/>
            <a:ext cx="6400800" cy="471971"/>
          </a:xfrm>
        </p:spPr>
        <p:txBody>
          <a:bodyPr anchor="b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1"/>
          </p:nvPr>
        </p:nvSpPr>
        <p:spPr>
          <a:xfrm>
            <a:off x="295687" y="4439286"/>
            <a:ext cx="2098597" cy="517525"/>
          </a:xfrm>
        </p:spPr>
        <p:txBody>
          <a:bodyPr>
            <a:noAutofit/>
          </a:bodyPr>
          <a:lstStyle>
            <a:lvl1pPr marL="0" indent="0" algn="l"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2"/>
          </p:nvPr>
        </p:nvSpPr>
        <p:spPr>
          <a:xfrm>
            <a:off x="2453698" y="4444369"/>
            <a:ext cx="2184476" cy="517525"/>
          </a:xfrm>
        </p:spPr>
        <p:txBody>
          <a:bodyPr>
            <a:noAutofit/>
          </a:bodyPr>
          <a:lstStyle>
            <a:lvl1pPr marL="0" indent="0" algn="l"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641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/>
          <p:cNvSpPr>
            <a:spLocks noGrp="1"/>
          </p:cNvSpPr>
          <p:nvPr>
            <p:ph type="body" sz="quarter" idx="13"/>
          </p:nvPr>
        </p:nvSpPr>
        <p:spPr bwMode="auto">
          <a:xfrm>
            <a:off x="3501688" y="-5922"/>
            <a:ext cx="5654316" cy="5152775"/>
          </a:xfrm>
          <a:custGeom>
            <a:avLst/>
            <a:gdLst>
              <a:gd name="connsiteX0" fmla="*/ 0 w 2419350"/>
              <a:gd name="connsiteY0" fmla="*/ 5172957 h 5172957"/>
              <a:gd name="connsiteX1" fmla="*/ 604838 w 2419350"/>
              <a:gd name="connsiteY1" fmla="*/ 0 h 5172957"/>
              <a:gd name="connsiteX2" fmla="*/ 1814513 w 2419350"/>
              <a:gd name="connsiteY2" fmla="*/ 0 h 5172957"/>
              <a:gd name="connsiteX3" fmla="*/ 2419350 w 2419350"/>
              <a:gd name="connsiteY3" fmla="*/ 5172957 h 5172957"/>
              <a:gd name="connsiteX4" fmla="*/ 0 w 2419350"/>
              <a:gd name="connsiteY4" fmla="*/ 5172957 h 5172957"/>
              <a:gd name="connsiteX0" fmla="*/ 0 w 2439138"/>
              <a:gd name="connsiteY0" fmla="*/ 5172957 h 5172957"/>
              <a:gd name="connsiteX1" fmla="*/ 604838 w 2439138"/>
              <a:gd name="connsiteY1" fmla="*/ 0 h 5172957"/>
              <a:gd name="connsiteX2" fmla="*/ 2439138 w 2439138"/>
              <a:gd name="connsiteY2" fmla="*/ 6439 h 5172957"/>
              <a:gd name="connsiteX3" fmla="*/ 2419350 w 2439138"/>
              <a:gd name="connsiteY3" fmla="*/ 5172957 h 5172957"/>
              <a:gd name="connsiteX4" fmla="*/ 0 w 2439138"/>
              <a:gd name="connsiteY4" fmla="*/ 5172957 h 5172957"/>
              <a:gd name="connsiteX0" fmla="*/ 3226626 w 5665764"/>
              <a:gd name="connsiteY0" fmla="*/ 5166518 h 5166518"/>
              <a:gd name="connsiteX1" fmla="*/ 0 w 5665764"/>
              <a:gd name="connsiteY1" fmla="*/ 6440 h 5166518"/>
              <a:gd name="connsiteX2" fmla="*/ 5665764 w 5665764"/>
              <a:gd name="connsiteY2" fmla="*/ 0 h 5166518"/>
              <a:gd name="connsiteX3" fmla="*/ 5645976 w 5665764"/>
              <a:gd name="connsiteY3" fmla="*/ 5166518 h 5166518"/>
              <a:gd name="connsiteX4" fmla="*/ 3226626 w 5665764"/>
              <a:gd name="connsiteY4" fmla="*/ 5166518 h 5166518"/>
              <a:gd name="connsiteX0" fmla="*/ 2421696 w 5665764"/>
              <a:gd name="connsiteY0" fmla="*/ 5192275 h 5192275"/>
              <a:gd name="connsiteX1" fmla="*/ 0 w 5665764"/>
              <a:gd name="connsiteY1" fmla="*/ 6440 h 5192275"/>
              <a:gd name="connsiteX2" fmla="*/ 5665764 w 5665764"/>
              <a:gd name="connsiteY2" fmla="*/ 0 h 5192275"/>
              <a:gd name="connsiteX3" fmla="*/ 5645976 w 5665764"/>
              <a:gd name="connsiteY3" fmla="*/ 5166518 h 5192275"/>
              <a:gd name="connsiteX4" fmla="*/ 2421696 w 5665764"/>
              <a:gd name="connsiteY4" fmla="*/ 5192275 h 5192275"/>
              <a:gd name="connsiteX0" fmla="*/ 2421696 w 5665764"/>
              <a:gd name="connsiteY0" fmla="*/ 5183177 h 5183177"/>
              <a:gd name="connsiteX1" fmla="*/ 0 w 5665764"/>
              <a:gd name="connsiteY1" fmla="*/ 6440 h 5183177"/>
              <a:gd name="connsiteX2" fmla="*/ 5665764 w 5665764"/>
              <a:gd name="connsiteY2" fmla="*/ 0 h 5183177"/>
              <a:gd name="connsiteX3" fmla="*/ 5645976 w 5665764"/>
              <a:gd name="connsiteY3" fmla="*/ 5166518 h 5183177"/>
              <a:gd name="connsiteX4" fmla="*/ 2421696 w 5665764"/>
              <a:gd name="connsiteY4" fmla="*/ 5183177 h 5183177"/>
              <a:gd name="connsiteX0" fmla="*/ 2421696 w 5665764"/>
              <a:gd name="connsiteY0" fmla="*/ 5174079 h 5174079"/>
              <a:gd name="connsiteX1" fmla="*/ 0 w 5665764"/>
              <a:gd name="connsiteY1" fmla="*/ 6440 h 5174079"/>
              <a:gd name="connsiteX2" fmla="*/ 5665764 w 5665764"/>
              <a:gd name="connsiteY2" fmla="*/ 0 h 5174079"/>
              <a:gd name="connsiteX3" fmla="*/ 5645976 w 5665764"/>
              <a:gd name="connsiteY3" fmla="*/ 5166518 h 5174079"/>
              <a:gd name="connsiteX4" fmla="*/ 2421696 w 5665764"/>
              <a:gd name="connsiteY4" fmla="*/ 5174079 h 5174079"/>
              <a:gd name="connsiteX0" fmla="*/ 2417147 w 5665764"/>
              <a:gd name="connsiteY0" fmla="*/ 5169530 h 5169530"/>
              <a:gd name="connsiteX1" fmla="*/ 0 w 5665764"/>
              <a:gd name="connsiteY1" fmla="*/ 6440 h 5169530"/>
              <a:gd name="connsiteX2" fmla="*/ 5665764 w 5665764"/>
              <a:gd name="connsiteY2" fmla="*/ 0 h 5169530"/>
              <a:gd name="connsiteX3" fmla="*/ 5645976 w 5665764"/>
              <a:gd name="connsiteY3" fmla="*/ 5166518 h 5169530"/>
              <a:gd name="connsiteX4" fmla="*/ 2417147 w 5665764"/>
              <a:gd name="connsiteY4" fmla="*/ 5169530 h 5169530"/>
              <a:gd name="connsiteX0" fmla="*/ 2417147 w 5652116"/>
              <a:gd name="connsiteY0" fmla="*/ 5164981 h 5164981"/>
              <a:gd name="connsiteX1" fmla="*/ 0 w 5652116"/>
              <a:gd name="connsiteY1" fmla="*/ 1891 h 5164981"/>
              <a:gd name="connsiteX2" fmla="*/ 5652116 w 5652116"/>
              <a:gd name="connsiteY2" fmla="*/ 0 h 5164981"/>
              <a:gd name="connsiteX3" fmla="*/ 5645976 w 5652116"/>
              <a:gd name="connsiteY3" fmla="*/ 5161969 h 5164981"/>
              <a:gd name="connsiteX4" fmla="*/ 2417147 w 5652116"/>
              <a:gd name="connsiteY4" fmla="*/ 5164981 h 5164981"/>
              <a:gd name="connsiteX0" fmla="*/ 2417147 w 5646219"/>
              <a:gd name="connsiteY0" fmla="*/ 5163090 h 5163090"/>
              <a:gd name="connsiteX1" fmla="*/ 0 w 5646219"/>
              <a:gd name="connsiteY1" fmla="*/ 0 h 5163090"/>
              <a:gd name="connsiteX2" fmla="*/ 5638468 w 5646219"/>
              <a:gd name="connsiteY2" fmla="*/ 11757 h 5163090"/>
              <a:gd name="connsiteX3" fmla="*/ 5645976 w 5646219"/>
              <a:gd name="connsiteY3" fmla="*/ 5160078 h 5163090"/>
              <a:gd name="connsiteX4" fmla="*/ 2417147 w 5646219"/>
              <a:gd name="connsiteY4" fmla="*/ 5163090 h 5163090"/>
              <a:gd name="connsiteX0" fmla="*/ 2417147 w 5646219"/>
              <a:gd name="connsiteY0" fmla="*/ 5164981 h 5164981"/>
              <a:gd name="connsiteX1" fmla="*/ 0 w 5646219"/>
              <a:gd name="connsiteY1" fmla="*/ 1891 h 5164981"/>
              <a:gd name="connsiteX2" fmla="*/ 5638468 w 5646219"/>
              <a:gd name="connsiteY2" fmla="*/ 0 h 5164981"/>
              <a:gd name="connsiteX3" fmla="*/ 5645976 w 5646219"/>
              <a:gd name="connsiteY3" fmla="*/ 5161969 h 5164981"/>
              <a:gd name="connsiteX4" fmla="*/ 2417147 w 5646219"/>
              <a:gd name="connsiteY4" fmla="*/ 5164981 h 5164981"/>
              <a:gd name="connsiteX0" fmla="*/ 2417147 w 5641803"/>
              <a:gd name="connsiteY0" fmla="*/ 5164981 h 5164981"/>
              <a:gd name="connsiteX1" fmla="*/ 0 w 5641803"/>
              <a:gd name="connsiteY1" fmla="*/ 1891 h 5164981"/>
              <a:gd name="connsiteX2" fmla="*/ 5638468 w 5641803"/>
              <a:gd name="connsiteY2" fmla="*/ 0 h 5164981"/>
              <a:gd name="connsiteX3" fmla="*/ 5641426 w 5641803"/>
              <a:gd name="connsiteY3" fmla="*/ 5161969 h 5164981"/>
              <a:gd name="connsiteX4" fmla="*/ 2417147 w 5641803"/>
              <a:gd name="connsiteY4" fmla="*/ 5164981 h 5164981"/>
              <a:gd name="connsiteX0" fmla="*/ 2417147 w 5643017"/>
              <a:gd name="connsiteY0" fmla="*/ 5174079 h 5174079"/>
              <a:gd name="connsiteX1" fmla="*/ 0 w 5643017"/>
              <a:gd name="connsiteY1" fmla="*/ 1098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43017"/>
              <a:gd name="connsiteY0" fmla="*/ 5174079 h 5174079"/>
              <a:gd name="connsiteX1" fmla="*/ 0 w 5643017"/>
              <a:gd name="connsiteY1" fmla="*/ 460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54316"/>
              <a:gd name="connsiteY0" fmla="*/ 5174079 h 5177448"/>
              <a:gd name="connsiteX1" fmla="*/ 0 w 5654316"/>
              <a:gd name="connsiteY1" fmla="*/ 4609 h 5177448"/>
              <a:gd name="connsiteX2" fmla="*/ 5643017 w 5654316"/>
              <a:gd name="connsiteY2" fmla="*/ 0 h 5177448"/>
              <a:gd name="connsiteX3" fmla="*/ 5654126 w 5654316"/>
              <a:gd name="connsiteY3" fmla="*/ 5177448 h 5177448"/>
              <a:gd name="connsiteX4" fmla="*/ 2417147 w 5654316"/>
              <a:gd name="connsiteY4" fmla="*/ 5174079 h 517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4316" h="5177448">
                <a:moveTo>
                  <a:pt x="2417147" y="5174079"/>
                </a:moveTo>
                <a:lnTo>
                  <a:pt x="0" y="4609"/>
                </a:lnTo>
                <a:lnTo>
                  <a:pt x="5643017" y="0"/>
                </a:lnTo>
                <a:cubicBezTo>
                  <a:pt x="5640970" y="1720656"/>
                  <a:pt x="5656173" y="3456792"/>
                  <a:pt x="5654126" y="5177448"/>
                </a:cubicBezTo>
                <a:lnTo>
                  <a:pt x="2417147" y="51740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solidFill>
                    <a:schemeClr val="accent1"/>
                  </a:solidFill>
                </a:ln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 bwMode="auto">
          <a:xfrm>
            <a:off x="4429719" y="-4153"/>
            <a:ext cx="4711557" cy="5154092"/>
          </a:xfrm>
          <a:custGeom>
            <a:avLst/>
            <a:gdLst>
              <a:gd name="connsiteX0" fmla="*/ 0 w 1466850"/>
              <a:gd name="connsiteY0" fmla="*/ 1608226 h 1608226"/>
              <a:gd name="connsiteX1" fmla="*/ 366713 w 1466850"/>
              <a:gd name="connsiteY1" fmla="*/ 0 h 1608226"/>
              <a:gd name="connsiteX2" fmla="*/ 1466850 w 1466850"/>
              <a:gd name="connsiteY2" fmla="*/ 0 h 1608226"/>
              <a:gd name="connsiteX3" fmla="*/ 1100138 w 1466850"/>
              <a:gd name="connsiteY3" fmla="*/ 1608226 h 1608226"/>
              <a:gd name="connsiteX4" fmla="*/ 0 w 1466850"/>
              <a:gd name="connsiteY4" fmla="*/ 1608226 h 1608226"/>
              <a:gd name="connsiteX0" fmla="*/ 0 w 2304312"/>
              <a:gd name="connsiteY0" fmla="*/ 1608226 h 1614665"/>
              <a:gd name="connsiteX1" fmla="*/ 366713 w 2304312"/>
              <a:gd name="connsiteY1" fmla="*/ 0 h 1614665"/>
              <a:gd name="connsiteX2" fmla="*/ 1466850 w 2304312"/>
              <a:gd name="connsiteY2" fmla="*/ 0 h 1614665"/>
              <a:gd name="connsiteX3" fmla="*/ 2304312 w 2304312"/>
              <a:gd name="connsiteY3" fmla="*/ 1614665 h 1614665"/>
              <a:gd name="connsiteX4" fmla="*/ 0 w 2304312"/>
              <a:gd name="connsiteY4" fmla="*/ 1608226 h 1614665"/>
              <a:gd name="connsiteX0" fmla="*/ 0 w 4725205"/>
              <a:gd name="connsiteY0" fmla="*/ 5162795 h 5169234"/>
              <a:gd name="connsiteX1" fmla="*/ 366713 w 4725205"/>
              <a:gd name="connsiteY1" fmla="*/ 355456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69378 w 4725205"/>
              <a:gd name="connsiteY1" fmla="*/ 1931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82257 w 4725205"/>
              <a:gd name="connsiteY1" fmla="*/ 1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11557"/>
              <a:gd name="connsiteY0" fmla="*/ 5167345 h 5169234"/>
              <a:gd name="connsiteX1" fmla="*/ 2368609 w 4711557"/>
              <a:gd name="connsiteY1" fmla="*/ 1 h 5169234"/>
              <a:gd name="connsiteX2" fmla="*/ 4711557 w 4711557"/>
              <a:gd name="connsiteY2" fmla="*/ 0 h 5169234"/>
              <a:gd name="connsiteX3" fmla="*/ 2290664 w 4711557"/>
              <a:gd name="connsiteY3" fmla="*/ 5169234 h 5169234"/>
              <a:gd name="connsiteX4" fmla="*/ 0 w 4711557"/>
              <a:gd name="connsiteY4" fmla="*/ 5167345 h 516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1557" h="5169234">
                <a:moveTo>
                  <a:pt x="0" y="5167345"/>
                </a:moveTo>
                <a:lnTo>
                  <a:pt x="2368609" y="1"/>
                </a:lnTo>
                <a:lnTo>
                  <a:pt x="4711557" y="0"/>
                </a:lnTo>
                <a:lnTo>
                  <a:pt x="2290664" y="5169234"/>
                </a:lnTo>
                <a:lnTo>
                  <a:pt x="0" y="5167345"/>
                </a:lnTo>
                <a:close/>
              </a:path>
            </a:pathLst>
          </a:custGeom>
          <a:solidFill>
            <a:srgbClr val="FF5451">
              <a:alpha val="5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solidFill>
                    <a:srgbClr val="FF5451"/>
                  </a:solidFill>
                </a:ln>
                <a:solidFill>
                  <a:srgbClr val="FF545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113728" y="1066801"/>
            <a:ext cx="3562911" cy="350998"/>
          </a:xfrm>
        </p:spPr>
        <p:txBody>
          <a:bodyPr anchor="b">
            <a:noAutofit/>
          </a:bodyPr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Bildplatzhalter"/>
          <p:cNvSpPr>
            <a:spLocks noGrp="1"/>
          </p:cNvSpPr>
          <p:nvPr>
            <p:ph type="pic" sz="quarter" idx="10"/>
          </p:nvPr>
        </p:nvSpPr>
        <p:spPr bwMode="auto">
          <a:xfrm>
            <a:off x="-1" y="0"/>
            <a:ext cx="6115051" cy="514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80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113728" y="1447164"/>
            <a:ext cx="3562911" cy="2201545"/>
          </a:xfrm>
        </p:spPr>
        <p:txBody>
          <a:bodyPr anchor="t"/>
          <a:lstStyle>
            <a:lvl1pPr algn="r">
              <a:defRPr sz="2800" b="1" cap="all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4199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/>
          <p:cNvSpPr>
            <a:spLocks noGrp="1"/>
          </p:cNvSpPr>
          <p:nvPr>
            <p:ph type="body" sz="quarter" idx="13"/>
          </p:nvPr>
        </p:nvSpPr>
        <p:spPr bwMode="auto">
          <a:xfrm flipH="1">
            <a:off x="-14439" y="-5922"/>
            <a:ext cx="5654316" cy="5152775"/>
          </a:xfrm>
          <a:custGeom>
            <a:avLst/>
            <a:gdLst>
              <a:gd name="connsiteX0" fmla="*/ 0 w 2419350"/>
              <a:gd name="connsiteY0" fmla="*/ 5172957 h 5172957"/>
              <a:gd name="connsiteX1" fmla="*/ 604838 w 2419350"/>
              <a:gd name="connsiteY1" fmla="*/ 0 h 5172957"/>
              <a:gd name="connsiteX2" fmla="*/ 1814513 w 2419350"/>
              <a:gd name="connsiteY2" fmla="*/ 0 h 5172957"/>
              <a:gd name="connsiteX3" fmla="*/ 2419350 w 2419350"/>
              <a:gd name="connsiteY3" fmla="*/ 5172957 h 5172957"/>
              <a:gd name="connsiteX4" fmla="*/ 0 w 2419350"/>
              <a:gd name="connsiteY4" fmla="*/ 5172957 h 5172957"/>
              <a:gd name="connsiteX0" fmla="*/ 0 w 2439138"/>
              <a:gd name="connsiteY0" fmla="*/ 5172957 h 5172957"/>
              <a:gd name="connsiteX1" fmla="*/ 604838 w 2439138"/>
              <a:gd name="connsiteY1" fmla="*/ 0 h 5172957"/>
              <a:gd name="connsiteX2" fmla="*/ 2439138 w 2439138"/>
              <a:gd name="connsiteY2" fmla="*/ 6439 h 5172957"/>
              <a:gd name="connsiteX3" fmla="*/ 2419350 w 2439138"/>
              <a:gd name="connsiteY3" fmla="*/ 5172957 h 5172957"/>
              <a:gd name="connsiteX4" fmla="*/ 0 w 2439138"/>
              <a:gd name="connsiteY4" fmla="*/ 5172957 h 5172957"/>
              <a:gd name="connsiteX0" fmla="*/ 3226626 w 5665764"/>
              <a:gd name="connsiteY0" fmla="*/ 5166518 h 5166518"/>
              <a:gd name="connsiteX1" fmla="*/ 0 w 5665764"/>
              <a:gd name="connsiteY1" fmla="*/ 6440 h 5166518"/>
              <a:gd name="connsiteX2" fmla="*/ 5665764 w 5665764"/>
              <a:gd name="connsiteY2" fmla="*/ 0 h 5166518"/>
              <a:gd name="connsiteX3" fmla="*/ 5645976 w 5665764"/>
              <a:gd name="connsiteY3" fmla="*/ 5166518 h 5166518"/>
              <a:gd name="connsiteX4" fmla="*/ 3226626 w 5665764"/>
              <a:gd name="connsiteY4" fmla="*/ 5166518 h 5166518"/>
              <a:gd name="connsiteX0" fmla="*/ 2421696 w 5665764"/>
              <a:gd name="connsiteY0" fmla="*/ 5192275 h 5192275"/>
              <a:gd name="connsiteX1" fmla="*/ 0 w 5665764"/>
              <a:gd name="connsiteY1" fmla="*/ 6440 h 5192275"/>
              <a:gd name="connsiteX2" fmla="*/ 5665764 w 5665764"/>
              <a:gd name="connsiteY2" fmla="*/ 0 h 5192275"/>
              <a:gd name="connsiteX3" fmla="*/ 5645976 w 5665764"/>
              <a:gd name="connsiteY3" fmla="*/ 5166518 h 5192275"/>
              <a:gd name="connsiteX4" fmla="*/ 2421696 w 5665764"/>
              <a:gd name="connsiteY4" fmla="*/ 5192275 h 5192275"/>
              <a:gd name="connsiteX0" fmla="*/ 2421696 w 5665764"/>
              <a:gd name="connsiteY0" fmla="*/ 5183177 h 5183177"/>
              <a:gd name="connsiteX1" fmla="*/ 0 w 5665764"/>
              <a:gd name="connsiteY1" fmla="*/ 6440 h 5183177"/>
              <a:gd name="connsiteX2" fmla="*/ 5665764 w 5665764"/>
              <a:gd name="connsiteY2" fmla="*/ 0 h 5183177"/>
              <a:gd name="connsiteX3" fmla="*/ 5645976 w 5665764"/>
              <a:gd name="connsiteY3" fmla="*/ 5166518 h 5183177"/>
              <a:gd name="connsiteX4" fmla="*/ 2421696 w 5665764"/>
              <a:gd name="connsiteY4" fmla="*/ 5183177 h 5183177"/>
              <a:gd name="connsiteX0" fmla="*/ 2421696 w 5665764"/>
              <a:gd name="connsiteY0" fmla="*/ 5174079 h 5174079"/>
              <a:gd name="connsiteX1" fmla="*/ 0 w 5665764"/>
              <a:gd name="connsiteY1" fmla="*/ 6440 h 5174079"/>
              <a:gd name="connsiteX2" fmla="*/ 5665764 w 5665764"/>
              <a:gd name="connsiteY2" fmla="*/ 0 h 5174079"/>
              <a:gd name="connsiteX3" fmla="*/ 5645976 w 5665764"/>
              <a:gd name="connsiteY3" fmla="*/ 5166518 h 5174079"/>
              <a:gd name="connsiteX4" fmla="*/ 2421696 w 5665764"/>
              <a:gd name="connsiteY4" fmla="*/ 5174079 h 5174079"/>
              <a:gd name="connsiteX0" fmla="*/ 2417147 w 5665764"/>
              <a:gd name="connsiteY0" fmla="*/ 5169530 h 5169530"/>
              <a:gd name="connsiteX1" fmla="*/ 0 w 5665764"/>
              <a:gd name="connsiteY1" fmla="*/ 6440 h 5169530"/>
              <a:gd name="connsiteX2" fmla="*/ 5665764 w 5665764"/>
              <a:gd name="connsiteY2" fmla="*/ 0 h 5169530"/>
              <a:gd name="connsiteX3" fmla="*/ 5645976 w 5665764"/>
              <a:gd name="connsiteY3" fmla="*/ 5166518 h 5169530"/>
              <a:gd name="connsiteX4" fmla="*/ 2417147 w 5665764"/>
              <a:gd name="connsiteY4" fmla="*/ 5169530 h 5169530"/>
              <a:gd name="connsiteX0" fmla="*/ 2417147 w 5652116"/>
              <a:gd name="connsiteY0" fmla="*/ 5164981 h 5164981"/>
              <a:gd name="connsiteX1" fmla="*/ 0 w 5652116"/>
              <a:gd name="connsiteY1" fmla="*/ 1891 h 5164981"/>
              <a:gd name="connsiteX2" fmla="*/ 5652116 w 5652116"/>
              <a:gd name="connsiteY2" fmla="*/ 0 h 5164981"/>
              <a:gd name="connsiteX3" fmla="*/ 5645976 w 5652116"/>
              <a:gd name="connsiteY3" fmla="*/ 5161969 h 5164981"/>
              <a:gd name="connsiteX4" fmla="*/ 2417147 w 5652116"/>
              <a:gd name="connsiteY4" fmla="*/ 5164981 h 5164981"/>
              <a:gd name="connsiteX0" fmla="*/ 2417147 w 5646219"/>
              <a:gd name="connsiteY0" fmla="*/ 5163090 h 5163090"/>
              <a:gd name="connsiteX1" fmla="*/ 0 w 5646219"/>
              <a:gd name="connsiteY1" fmla="*/ 0 h 5163090"/>
              <a:gd name="connsiteX2" fmla="*/ 5638468 w 5646219"/>
              <a:gd name="connsiteY2" fmla="*/ 11757 h 5163090"/>
              <a:gd name="connsiteX3" fmla="*/ 5645976 w 5646219"/>
              <a:gd name="connsiteY3" fmla="*/ 5160078 h 5163090"/>
              <a:gd name="connsiteX4" fmla="*/ 2417147 w 5646219"/>
              <a:gd name="connsiteY4" fmla="*/ 5163090 h 5163090"/>
              <a:gd name="connsiteX0" fmla="*/ 2417147 w 5646219"/>
              <a:gd name="connsiteY0" fmla="*/ 5164981 h 5164981"/>
              <a:gd name="connsiteX1" fmla="*/ 0 w 5646219"/>
              <a:gd name="connsiteY1" fmla="*/ 1891 h 5164981"/>
              <a:gd name="connsiteX2" fmla="*/ 5638468 w 5646219"/>
              <a:gd name="connsiteY2" fmla="*/ 0 h 5164981"/>
              <a:gd name="connsiteX3" fmla="*/ 5645976 w 5646219"/>
              <a:gd name="connsiteY3" fmla="*/ 5161969 h 5164981"/>
              <a:gd name="connsiteX4" fmla="*/ 2417147 w 5646219"/>
              <a:gd name="connsiteY4" fmla="*/ 5164981 h 5164981"/>
              <a:gd name="connsiteX0" fmla="*/ 2417147 w 5641803"/>
              <a:gd name="connsiteY0" fmla="*/ 5164981 h 5164981"/>
              <a:gd name="connsiteX1" fmla="*/ 0 w 5641803"/>
              <a:gd name="connsiteY1" fmla="*/ 1891 h 5164981"/>
              <a:gd name="connsiteX2" fmla="*/ 5638468 w 5641803"/>
              <a:gd name="connsiteY2" fmla="*/ 0 h 5164981"/>
              <a:gd name="connsiteX3" fmla="*/ 5641426 w 5641803"/>
              <a:gd name="connsiteY3" fmla="*/ 5161969 h 5164981"/>
              <a:gd name="connsiteX4" fmla="*/ 2417147 w 5641803"/>
              <a:gd name="connsiteY4" fmla="*/ 5164981 h 5164981"/>
              <a:gd name="connsiteX0" fmla="*/ 2417147 w 5643017"/>
              <a:gd name="connsiteY0" fmla="*/ 5174079 h 5174079"/>
              <a:gd name="connsiteX1" fmla="*/ 0 w 5643017"/>
              <a:gd name="connsiteY1" fmla="*/ 1098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43017"/>
              <a:gd name="connsiteY0" fmla="*/ 5174079 h 5174079"/>
              <a:gd name="connsiteX1" fmla="*/ 0 w 5643017"/>
              <a:gd name="connsiteY1" fmla="*/ 460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54316"/>
              <a:gd name="connsiteY0" fmla="*/ 5174079 h 5177448"/>
              <a:gd name="connsiteX1" fmla="*/ 0 w 5654316"/>
              <a:gd name="connsiteY1" fmla="*/ 4609 h 5177448"/>
              <a:gd name="connsiteX2" fmla="*/ 5643017 w 5654316"/>
              <a:gd name="connsiteY2" fmla="*/ 0 h 5177448"/>
              <a:gd name="connsiteX3" fmla="*/ 5654126 w 5654316"/>
              <a:gd name="connsiteY3" fmla="*/ 5177448 h 5177448"/>
              <a:gd name="connsiteX4" fmla="*/ 2417147 w 5654316"/>
              <a:gd name="connsiteY4" fmla="*/ 5174079 h 517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4316" h="5177448">
                <a:moveTo>
                  <a:pt x="2417147" y="5174079"/>
                </a:moveTo>
                <a:lnTo>
                  <a:pt x="0" y="4609"/>
                </a:lnTo>
                <a:lnTo>
                  <a:pt x="5643017" y="0"/>
                </a:lnTo>
                <a:cubicBezTo>
                  <a:pt x="5640970" y="1720656"/>
                  <a:pt x="5656173" y="3456792"/>
                  <a:pt x="5654126" y="5177448"/>
                </a:cubicBezTo>
                <a:lnTo>
                  <a:pt x="2417147" y="51740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noFill/>
                </a:ln>
                <a:noFill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 bwMode="auto">
          <a:xfrm flipH="1">
            <a:off x="-14439" y="-4153"/>
            <a:ext cx="4711557" cy="5154092"/>
          </a:xfrm>
          <a:custGeom>
            <a:avLst/>
            <a:gdLst>
              <a:gd name="connsiteX0" fmla="*/ 0 w 1466850"/>
              <a:gd name="connsiteY0" fmla="*/ 1608226 h 1608226"/>
              <a:gd name="connsiteX1" fmla="*/ 366713 w 1466850"/>
              <a:gd name="connsiteY1" fmla="*/ 0 h 1608226"/>
              <a:gd name="connsiteX2" fmla="*/ 1466850 w 1466850"/>
              <a:gd name="connsiteY2" fmla="*/ 0 h 1608226"/>
              <a:gd name="connsiteX3" fmla="*/ 1100138 w 1466850"/>
              <a:gd name="connsiteY3" fmla="*/ 1608226 h 1608226"/>
              <a:gd name="connsiteX4" fmla="*/ 0 w 1466850"/>
              <a:gd name="connsiteY4" fmla="*/ 1608226 h 1608226"/>
              <a:gd name="connsiteX0" fmla="*/ 0 w 2304312"/>
              <a:gd name="connsiteY0" fmla="*/ 1608226 h 1614665"/>
              <a:gd name="connsiteX1" fmla="*/ 366713 w 2304312"/>
              <a:gd name="connsiteY1" fmla="*/ 0 h 1614665"/>
              <a:gd name="connsiteX2" fmla="*/ 1466850 w 2304312"/>
              <a:gd name="connsiteY2" fmla="*/ 0 h 1614665"/>
              <a:gd name="connsiteX3" fmla="*/ 2304312 w 2304312"/>
              <a:gd name="connsiteY3" fmla="*/ 1614665 h 1614665"/>
              <a:gd name="connsiteX4" fmla="*/ 0 w 2304312"/>
              <a:gd name="connsiteY4" fmla="*/ 1608226 h 1614665"/>
              <a:gd name="connsiteX0" fmla="*/ 0 w 4725205"/>
              <a:gd name="connsiteY0" fmla="*/ 5162795 h 5169234"/>
              <a:gd name="connsiteX1" fmla="*/ 366713 w 4725205"/>
              <a:gd name="connsiteY1" fmla="*/ 355456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69378 w 4725205"/>
              <a:gd name="connsiteY1" fmla="*/ 1931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82257 w 4725205"/>
              <a:gd name="connsiteY1" fmla="*/ 1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11557"/>
              <a:gd name="connsiteY0" fmla="*/ 5167345 h 5169234"/>
              <a:gd name="connsiteX1" fmla="*/ 2368609 w 4711557"/>
              <a:gd name="connsiteY1" fmla="*/ 1 h 5169234"/>
              <a:gd name="connsiteX2" fmla="*/ 4711557 w 4711557"/>
              <a:gd name="connsiteY2" fmla="*/ 0 h 5169234"/>
              <a:gd name="connsiteX3" fmla="*/ 2290664 w 4711557"/>
              <a:gd name="connsiteY3" fmla="*/ 5169234 h 5169234"/>
              <a:gd name="connsiteX4" fmla="*/ 0 w 4711557"/>
              <a:gd name="connsiteY4" fmla="*/ 5167345 h 516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1557" h="5169234">
                <a:moveTo>
                  <a:pt x="0" y="5167345"/>
                </a:moveTo>
                <a:lnTo>
                  <a:pt x="2368609" y="1"/>
                </a:lnTo>
                <a:lnTo>
                  <a:pt x="4711557" y="0"/>
                </a:lnTo>
                <a:lnTo>
                  <a:pt x="2290664" y="5169234"/>
                </a:lnTo>
                <a:lnTo>
                  <a:pt x="0" y="5167345"/>
                </a:lnTo>
                <a:close/>
              </a:path>
            </a:pathLst>
          </a:custGeom>
          <a:solidFill>
            <a:srgbClr val="FF5451">
              <a:alpha val="5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noFill/>
                </a:ln>
                <a:noFill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71878" y="1066801"/>
            <a:ext cx="3562911" cy="350998"/>
          </a:xfrm>
        </p:spPr>
        <p:txBody>
          <a:bodyPr anchor="b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Bildplatzhalter"/>
          <p:cNvSpPr>
            <a:spLocks noGrp="1"/>
          </p:cNvSpPr>
          <p:nvPr>
            <p:ph type="pic" sz="quarter" idx="10"/>
          </p:nvPr>
        </p:nvSpPr>
        <p:spPr bwMode="auto">
          <a:xfrm>
            <a:off x="2711450" y="0"/>
            <a:ext cx="6432551" cy="514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80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1878" y="1447164"/>
            <a:ext cx="3562911" cy="2201545"/>
          </a:xfrm>
        </p:spPr>
        <p:txBody>
          <a:bodyPr anchor="t"/>
          <a:lstStyle>
            <a:lvl1pPr algn="l">
              <a:defRPr sz="2800" b="1" cap="all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4871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00" y="0"/>
            <a:ext cx="33147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7588" y="2078847"/>
            <a:ext cx="6400800" cy="1487313"/>
          </a:xfrm>
          <a:prstGeom prst="rect">
            <a:avLst/>
          </a:prstGeom>
        </p:spPr>
        <p:txBody>
          <a:bodyPr anchor="t"/>
          <a:lstStyle>
            <a:lvl1pPr>
              <a:defRPr sz="2800">
                <a:solidFill>
                  <a:srgbClr val="262A3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57587" y="1740092"/>
            <a:ext cx="6400800" cy="3387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rgbClr val="262A3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cxnSp>
        <p:nvCxnSpPr>
          <p:cNvPr id="9" name="Gerade Verbindung 10"/>
          <p:cNvCxnSpPr/>
          <p:nvPr userDrawn="1"/>
        </p:nvCxnSpPr>
        <p:spPr>
          <a:xfrm>
            <a:off x="457200" y="4713670"/>
            <a:ext cx="5731459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69366"/>
            <a:ext cx="547323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0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(formatfü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/>
          <p:cNvSpPr>
            <a:spLocks noGrp="1"/>
          </p:cNvSpPr>
          <p:nvPr>
            <p:ph type="pic" sz="quarter" idx="15"/>
          </p:nvPr>
        </p:nvSpPr>
        <p:spPr>
          <a:xfrm>
            <a:off x="8468" y="8468"/>
            <a:ext cx="9135532" cy="5135032"/>
          </a:xfrm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10379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en Dank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5093"/>
            <a:ext cx="3428998" cy="1442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Bild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628" y="0"/>
            <a:ext cx="3524250" cy="515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65495" y="2078847"/>
            <a:ext cx="7984797" cy="562753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8" name="Inhaltsplatzhalter 3"/>
          <p:cNvSpPr>
            <a:spLocks noGrp="1"/>
          </p:cNvSpPr>
          <p:nvPr>
            <p:ph sz="half" idx="2"/>
          </p:nvPr>
        </p:nvSpPr>
        <p:spPr>
          <a:xfrm>
            <a:off x="365495" y="2834640"/>
            <a:ext cx="4672172" cy="1847427"/>
          </a:xfrm>
        </p:spPr>
        <p:txBody>
          <a:bodyPr>
            <a:noAutofit/>
          </a:bodyPr>
          <a:lstStyle>
            <a:lvl1pPr marL="0" indent="0">
              <a:buNone/>
              <a:defRPr sz="1100" baseline="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6464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17134"/>
            <a:ext cx="8234363" cy="2985558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4pPr>
            <a:lvl5pPr marL="2063750" indent="-2349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457200" y="1125940"/>
            <a:ext cx="8234363" cy="37774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248790C2-FB8D-4AD1-BFB1-8D82BB9A4283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‹№›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043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16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ohne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4pPr>
            <a:lvl5pPr marL="2063750" indent="-2349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‹№›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2329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- 2 Blöc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17133"/>
            <a:ext cx="3952240" cy="2977092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457200" y="1139588"/>
            <a:ext cx="8229600" cy="36409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4"/>
          </p:nvPr>
        </p:nvSpPr>
        <p:spPr>
          <a:xfrm>
            <a:off x="4724400" y="1617133"/>
            <a:ext cx="3962400" cy="2977092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E6F2A070-8A77-484A-BFE7-6B1E5C215647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‹№›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95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Bild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6"/>
          </p:nvPr>
        </p:nvSpPr>
        <p:spPr>
          <a:xfrm>
            <a:off x="457200" y="1243691"/>
            <a:ext cx="8229600" cy="3057375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>
                <a:solidFill>
                  <a:srgbClr val="262A31"/>
                </a:solidFill>
              </a:defRPr>
            </a:lvl1pPr>
          </a:lstStyle>
          <a:p>
            <a:pPr lvl="0"/>
            <a:r>
              <a:rPr lang="de-DE" noProof="0" dirty="0"/>
              <a:t>Bild durch Klicken auf Symbol hinzufügen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43582BE0-97CE-412F-80F1-16DC6BED178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‹№›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544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9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1" name="Tabellenplatzhalter 10"/>
          <p:cNvSpPr>
            <a:spLocks noGrp="1"/>
          </p:cNvSpPr>
          <p:nvPr>
            <p:ph type="tbl" sz="quarter" idx="16"/>
          </p:nvPr>
        </p:nvSpPr>
        <p:spPr>
          <a:xfrm>
            <a:off x="457200" y="1597677"/>
            <a:ext cx="8234363" cy="269293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de-DE" noProof="0"/>
              <a:t>Tabelle durch Klicken auf Symbol hinzufügen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457200" y="1141828"/>
            <a:ext cx="8229600" cy="36185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A0321171-B06E-4659-9CF5-7D6E520FDC1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‹№›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1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6"/>
          </p:nvPr>
        </p:nvSpPr>
        <p:spPr>
          <a:xfrm>
            <a:off x="457200" y="1229028"/>
            <a:ext cx="8229600" cy="306122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de-DE" noProof="0"/>
              <a:t>Diagramm durch Klicken auf Symbol hinzufügen</a:t>
            </a:r>
          </a:p>
        </p:txBody>
      </p:sp>
      <p:cxnSp>
        <p:nvCxnSpPr>
          <p:cNvPr id="16" name="Gerade Verbindung 10"/>
          <p:cNvCxnSpPr/>
          <p:nvPr userDrawn="1"/>
        </p:nvCxnSpPr>
        <p:spPr>
          <a:xfrm>
            <a:off x="457200" y="4713670"/>
            <a:ext cx="8229600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D98C2DD5-50CB-445D-B765-8AD2D4C5531F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‹№›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304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39624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6"/>
          </p:nvPr>
        </p:nvSpPr>
        <p:spPr>
          <a:xfrm>
            <a:off x="457200" y="1181092"/>
            <a:ext cx="3962400" cy="308610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de-DE" noProof="0"/>
              <a:t>Diagramm durch Klicken auf Symbol hinzufügen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20"/>
          </p:nvPr>
        </p:nvSpPr>
        <p:spPr>
          <a:xfrm>
            <a:off x="4714875" y="4368811"/>
            <a:ext cx="39624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Diagrammplatzhalter 7"/>
          <p:cNvSpPr>
            <a:spLocks noGrp="1"/>
          </p:cNvSpPr>
          <p:nvPr>
            <p:ph type="chart" sz="quarter" idx="21"/>
          </p:nvPr>
        </p:nvSpPr>
        <p:spPr>
          <a:xfrm>
            <a:off x="4714875" y="1181092"/>
            <a:ext cx="3962400" cy="3086108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1200"/>
            </a:lvl1pPr>
          </a:lstStyle>
          <a:p>
            <a:pPr lvl="0"/>
            <a:r>
              <a:rPr lang="de-DE" noProof="0"/>
              <a:t>Diagramm durch Klicken auf Symbol hinzufügen</a:t>
            </a:r>
            <a:endParaRPr lang="de-DE" noProof="0" dirty="0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64035955-D4DF-4360-912A-517416A0AD74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‹№›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1593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57200" y="372533"/>
            <a:ext cx="2692400" cy="999067"/>
          </a:xfrm>
          <a:prstGeom prst="rect">
            <a:avLst/>
          </a:prstGeom>
        </p:spPr>
        <p:txBody>
          <a:bodyPr anchor="b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4" name="Inhaltsplatzhalter 2"/>
          <p:cNvSpPr>
            <a:spLocks noGrp="1"/>
          </p:cNvSpPr>
          <p:nvPr>
            <p:ph idx="1"/>
          </p:nvPr>
        </p:nvSpPr>
        <p:spPr>
          <a:xfrm>
            <a:off x="457200" y="1503680"/>
            <a:ext cx="2692400" cy="3195327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</a:defRPr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9" name="Bildplatzhalter 18"/>
          <p:cNvSpPr>
            <a:spLocks noGrp="1"/>
          </p:cNvSpPr>
          <p:nvPr>
            <p:ph type="pic" sz="quarter" idx="16"/>
          </p:nvPr>
        </p:nvSpPr>
        <p:spPr>
          <a:xfrm>
            <a:off x="3352800" y="762000"/>
            <a:ext cx="5791200" cy="348934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10" name="Inhaltsplatzhalter 2"/>
          <p:cNvSpPr>
            <a:spLocks noGrp="1"/>
          </p:cNvSpPr>
          <p:nvPr>
            <p:ph idx="19"/>
          </p:nvPr>
        </p:nvSpPr>
        <p:spPr>
          <a:xfrm>
            <a:off x="3352800" y="4368811"/>
            <a:ext cx="5334000" cy="330196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01A9B2D6-5EFE-4937-AE57-083B7F8CA155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‹№›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18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0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063625"/>
            <a:ext cx="8229600" cy="353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SUBHEADLINE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84" r:id="rId2"/>
    <p:sldLayoutId id="2147483885" r:id="rId3"/>
    <p:sldLayoutId id="2147483870" r:id="rId4"/>
    <p:sldLayoutId id="2147483877" r:id="rId5"/>
    <p:sldLayoutId id="2147483879" r:id="rId6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1" kern="1200" cap="all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Symbol" panose="05050102010706020507" pitchFamily="18" charset="2"/>
        <a:defRPr sz="1200" kern="1200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marL="4572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2pPr>
      <a:lvl3pPr marL="9144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3pPr>
      <a:lvl4pPr marL="1371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4pPr>
      <a:lvl5pPr marL="18288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9"/>
          <p:cNvCxnSpPr/>
          <p:nvPr userDrawn="1"/>
        </p:nvCxnSpPr>
        <p:spPr>
          <a:xfrm>
            <a:off x="0" y="155575"/>
            <a:ext cx="457200" cy="0"/>
          </a:xfrm>
          <a:prstGeom prst="line">
            <a:avLst/>
          </a:prstGeom>
          <a:ln w="3175" cmpd="sng">
            <a:solidFill>
              <a:srgbClr val="262A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69366"/>
            <a:ext cx="547323" cy="324000"/>
          </a:xfrm>
          <a:prstGeom prst="rect">
            <a:avLst/>
          </a:prstGeom>
        </p:spPr>
      </p:pic>
      <p:sp>
        <p:nvSpPr>
          <p:cNvPr id="8" name="Textfeld 7"/>
          <p:cNvSpPr txBox="1"/>
          <p:nvPr userDrawn="1"/>
        </p:nvSpPr>
        <p:spPr>
          <a:xfrm>
            <a:off x="457200" y="22671"/>
            <a:ext cx="7001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Market Efficency of BTC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| BTC movement prediction</a:t>
            </a:r>
          </a:p>
        </p:txBody>
      </p:sp>
      <p:cxnSp>
        <p:nvCxnSpPr>
          <p:cNvPr id="9" name="Gerade Verbindung 10"/>
          <p:cNvCxnSpPr/>
          <p:nvPr userDrawn="1"/>
        </p:nvCxnSpPr>
        <p:spPr>
          <a:xfrm>
            <a:off x="457200" y="4713670"/>
            <a:ext cx="8229600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803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82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8" r:id="rId8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1" kern="1200" cap="all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Symbol" panose="05050102010706020507" pitchFamily="18" charset="2"/>
        <a:defRPr sz="1200" kern="1200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marL="4572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2pPr>
      <a:lvl3pPr marL="9144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3pPr>
      <a:lvl4pPr marL="1371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4pPr>
      <a:lvl5pPr marL="18288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A5A116-4C01-4F10-AEEF-6A9FF2ED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Prediction Results</a:t>
            </a:r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5E8BC90C-A670-41A9-A4E9-5C44F752C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Місце для вмісту 7" descr="Зображення, що містить текст, Шрифт, програмне забезпечення, знімок екрана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E2D1F077-D137-4BFE-B027-786903175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1490" y="3283038"/>
            <a:ext cx="4094926" cy="1258337"/>
          </a:xfrm>
        </p:spPr>
      </p:pic>
      <p:pic>
        <p:nvPicPr>
          <p:cNvPr id="10" name="Рисунок 9" descr="Зображення, що містить текст, знімок екрана, Шрифт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B36DF2D0-42E6-4A81-9AC4-FF4AF2002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83" y="1184450"/>
            <a:ext cx="3537948" cy="1857084"/>
          </a:xfrm>
          <a:prstGeom prst="rect">
            <a:avLst/>
          </a:prstGeom>
        </p:spPr>
      </p:pic>
      <p:pic>
        <p:nvPicPr>
          <p:cNvPr id="12" name="Рисунок 11" descr="Зображення, що містить текст, Шрифт, програмне забезпечення, знімок екрана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905C03B8-99EE-465E-9FA2-8E1BD6565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83" y="3283039"/>
            <a:ext cx="3872988" cy="1156019"/>
          </a:xfrm>
          <a:prstGeom prst="rect">
            <a:avLst/>
          </a:prstGeom>
        </p:spPr>
      </p:pic>
      <p:pic>
        <p:nvPicPr>
          <p:cNvPr id="14" name="Рисунок 13" descr="Зображення, що містить текст, знімок екрана, Шрифт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7B43B83C-827E-4C80-89AA-DA6277B156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4673" y="1833179"/>
            <a:ext cx="4111743" cy="1326369"/>
          </a:xfrm>
          <a:prstGeom prst="rect">
            <a:avLst/>
          </a:prstGeom>
        </p:spPr>
      </p:pic>
      <p:pic>
        <p:nvPicPr>
          <p:cNvPr id="16" name="Рисунок 15" descr="Зображення, що містить текст, знімок екрана, Шрифт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BECE86A6-5C96-4701-A3C9-96AFE04FBA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490" y="449472"/>
            <a:ext cx="4094927" cy="125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822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A5A116-4C01-4F10-AEEF-6A9FF2ED5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</p:spPr>
        <p:txBody>
          <a:bodyPr anchor="b">
            <a:normAutofit/>
          </a:bodyPr>
          <a:lstStyle/>
          <a:p>
            <a:r>
              <a:rPr lang="de-DE" b="1" kern="1200" cap="all" dirty="0">
                <a:latin typeface="Arial"/>
                <a:ea typeface="MS PGothic" panose="020B0600070205080204" pitchFamily="34" charset="-128"/>
                <a:cs typeface="Arial"/>
              </a:rPr>
              <a:t>Model Performance </a:t>
            </a:r>
            <a:r>
              <a:rPr lang="de-DE" b="1" kern="1200" cap="all" dirty="0" err="1">
                <a:latin typeface="Arial"/>
                <a:ea typeface="MS PGothic" panose="020B0600070205080204" pitchFamily="34" charset="-128"/>
                <a:cs typeface="Arial"/>
              </a:rPr>
              <a:t>Metrics</a:t>
            </a:r>
            <a:r>
              <a:rPr lang="de-DE" dirty="0"/>
              <a:t>.</a:t>
            </a:r>
            <a:r>
              <a:rPr kumimoji="0" lang="de-DE" altLang="uk-UA" sz="2000" b="1" i="0" u="none" strike="noStrike" kern="1200" cap="all" normalizeH="0" baseline="0" dirty="0">
                <a:ln>
                  <a:noFill/>
                </a:ln>
                <a:effectLst/>
                <a:latin typeface="Arial"/>
                <a:ea typeface="MS PGothic" panose="020B0600070205080204" pitchFamily="34" charset="-128"/>
                <a:cs typeface="Arial"/>
              </a:rPr>
              <a:t> EVALUATION OF ML MODELS</a:t>
            </a:r>
            <a:endParaRPr lang="de-DE" b="1" kern="1200" cap="all" dirty="0">
              <a:latin typeface="Arial"/>
              <a:ea typeface="MS PGothic" panose="020B0600070205080204" pitchFamily="34" charset="-128"/>
              <a:cs typeface="Arial"/>
            </a:endParaRP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A47F1C3-3152-4B12-BC0C-F9CFDAAEBD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6279089"/>
              </p:ext>
            </p:extLst>
          </p:nvPr>
        </p:nvGraphicFramePr>
        <p:xfrm>
          <a:off x="454819" y="1088792"/>
          <a:ext cx="8234364" cy="217467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355772">
                  <a:extLst>
                    <a:ext uri="{9D8B030D-6E8A-4147-A177-3AD203B41FA5}">
                      <a16:colId xmlns:a16="http://schemas.microsoft.com/office/drawing/2014/main" val="537123533"/>
                    </a:ext>
                  </a:extLst>
                </a:gridCol>
                <a:gridCol w="2859564">
                  <a:extLst>
                    <a:ext uri="{9D8B030D-6E8A-4147-A177-3AD203B41FA5}">
                      <a16:colId xmlns:a16="http://schemas.microsoft.com/office/drawing/2014/main" val="361333000"/>
                    </a:ext>
                  </a:extLst>
                </a:gridCol>
                <a:gridCol w="3019028">
                  <a:extLst>
                    <a:ext uri="{9D8B030D-6E8A-4147-A177-3AD203B41FA5}">
                      <a16:colId xmlns:a16="http://schemas.microsoft.com/office/drawing/2014/main" val="1219875541"/>
                    </a:ext>
                  </a:extLst>
                </a:gridCol>
              </a:tblGrid>
              <a:tr h="293058">
                <a:tc>
                  <a:txBody>
                    <a:bodyPr/>
                    <a:lstStyle/>
                    <a:p>
                      <a:r>
                        <a:rPr lang="en-US" sz="15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Model</a:t>
                      </a:r>
                    </a:p>
                  </a:txBody>
                  <a:tcPr marL="70403" marR="50288" marT="100576" marB="10057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cap="none" spc="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MAE (Next Return)</a:t>
                      </a:r>
                    </a:p>
                  </a:txBody>
                  <a:tcPr marL="70403" marR="50288" marT="100576" marB="10057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Directional Accuracy</a:t>
                      </a:r>
                    </a:p>
                  </a:txBody>
                  <a:tcPr marL="70403" marR="50288" marT="100576" marB="10057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080131"/>
                  </a:ext>
                </a:extLst>
              </a:tr>
              <a:tr h="237980"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LSTM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3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0.000412</a:t>
                      </a: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3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53.85%</a:t>
                      </a:r>
                      <a:endParaRPr lang="uk-UA" sz="13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595316"/>
                  </a:ext>
                </a:extLst>
              </a:tr>
              <a:tr h="237980"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Random Forest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3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0.000412</a:t>
                      </a: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3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53.85%</a:t>
                      </a:r>
                      <a:endParaRPr lang="uk-UA" sz="13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539621"/>
                  </a:ext>
                </a:extLst>
              </a:tr>
              <a:tr h="237980"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XGBoost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3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0.000394</a:t>
                      </a:r>
                      <a:endParaRPr lang="uk-UA" sz="13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3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53.39%</a:t>
                      </a: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739579"/>
                  </a:ext>
                </a:extLst>
              </a:tr>
              <a:tr h="237980"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Linear Regression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3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0.000443</a:t>
                      </a: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3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50.97%</a:t>
                      </a: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517640"/>
                  </a:ext>
                </a:extLst>
              </a:tr>
              <a:tr h="237980"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GRU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3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0.000891</a:t>
                      </a: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3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50.78%</a:t>
                      </a: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423549"/>
                  </a:ext>
                </a:extLst>
              </a:tr>
            </a:tbl>
          </a:graphicData>
        </a:graphic>
      </p:graphicFrame>
      <p:sp>
        <p:nvSpPr>
          <p:cNvPr id="4" name="Місце для номера слайда 3" hidden="1">
            <a:extLst>
              <a:ext uri="{FF2B5EF4-FFF2-40B4-BE49-F238E27FC236}">
                <a16:creationId xmlns:a16="http://schemas.microsoft.com/office/drawing/2014/main" id="{5E8BC90C-A670-41A9-A4E9-5C44F752C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Aft>
                  <a:spcPts val="600"/>
                </a:spcAft>
                <a:defRPr/>
              </a:pPr>
              <a:t>2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FFFFEA-D8F3-4B67-822C-247D54BDC76A}"/>
              </a:ext>
            </a:extLst>
          </p:cNvPr>
          <p:cNvSpPr txBox="1"/>
          <p:nvPr/>
        </p:nvSpPr>
        <p:spPr>
          <a:xfrm>
            <a:off x="390088" y="3296182"/>
            <a:ext cx="85190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Insight:</a:t>
            </a:r>
            <a:r>
              <a:rPr lang="en-US" dirty="0"/>
              <a:t> * Non-linear models (LSTM, RF, </a:t>
            </a:r>
            <a:r>
              <a:rPr lang="en-US" dirty="0" err="1"/>
              <a:t>XGBoost</a:t>
            </a:r>
            <a:r>
              <a:rPr lang="en-US" dirty="0"/>
              <a:t>) outperformed Linear Regression (50.97%).</a:t>
            </a:r>
            <a:endParaRPr lang="uk-UA" dirty="0"/>
          </a:p>
          <a:p>
            <a:endParaRPr lang="uk-UA" dirty="0"/>
          </a:p>
          <a:p>
            <a:r>
              <a:rPr lang="en-US" dirty="0"/>
              <a:t>Results indicate a persistent, though narrow, predictive signal in historical BTC data.</a:t>
            </a:r>
          </a:p>
        </p:txBody>
      </p:sp>
    </p:spTree>
    <p:extLst>
      <p:ext uri="{BB962C8B-B14F-4D97-AF65-F5344CB8AC3E}">
        <p14:creationId xmlns:p14="http://schemas.microsoft.com/office/powerpoint/2010/main" val="236502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Місце для вмісту 5" descr="Зображення, що містить текст, знімок екрана, схема, ряд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A3F16E7F-7208-40CD-90C1-A72E1F0F18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250"/>
          <a:stretch>
            <a:fillRect/>
          </a:stretch>
        </p:blipFill>
        <p:spPr>
          <a:xfrm>
            <a:off x="905869" y="364759"/>
            <a:ext cx="7332262" cy="4124399"/>
          </a:xfrm>
          <a:noFill/>
        </p:spPr>
      </p:pic>
      <p:sp>
        <p:nvSpPr>
          <p:cNvPr id="4" name="Місце для номера слайда 3" hidden="1">
            <a:extLst>
              <a:ext uri="{FF2B5EF4-FFF2-40B4-BE49-F238E27FC236}">
                <a16:creationId xmlns:a16="http://schemas.microsoft.com/office/drawing/2014/main" id="{EB6D77C6-E3BF-4EB5-BD5E-D979D3B1A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Aft>
                  <a:spcPts val="600"/>
                </a:spcAft>
                <a:defRPr/>
              </a:pPr>
              <a:t>3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463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Місце для вмісту 5" descr="Зображення, що містить знімок екрана, візерунок, Прямокутник, текст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22916E48-A374-4153-8829-843F9FE3B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303" b="12428"/>
          <a:stretch>
            <a:fillRect/>
          </a:stretch>
        </p:blipFill>
        <p:spPr>
          <a:xfrm>
            <a:off x="1157679" y="308557"/>
            <a:ext cx="7348757" cy="4133676"/>
          </a:xfrm>
          <a:noFill/>
        </p:spPr>
      </p:pic>
      <p:sp>
        <p:nvSpPr>
          <p:cNvPr id="4" name="Місце для номера слайда 3" hidden="1">
            <a:extLst>
              <a:ext uri="{FF2B5EF4-FFF2-40B4-BE49-F238E27FC236}">
                <a16:creationId xmlns:a16="http://schemas.microsoft.com/office/drawing/2014/main" id="{4EF7EAEA-24BB-4C7B-8A74-9B2101FEF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Aft>
                  <a:spcPts val="600"/>
                </a:spcAft>
                <a:defRPr/>
              </a:pPr>
              <a:t>4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477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A5A116-4C01-4F10-AEEF-6A9FF2ED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FOR BTC MARKET EFFICIENCY</a:t>
            </a:r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5E8BC90C-A670-41A9-A4E9-5C44F752C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5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FAF68E2-E26C-4AF3-9A63-4E0A7CF23B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912669"/>
            <a:ext cx="823436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uk-UA" altLang="uk-UA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uk-UA" altLang="uk-UA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EMH </a:t>
            </a: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Verdict</a:t>
            </a:r>
            <a:r>
              <a:rPr kumimoji="0" lang="uk-UA" altLang="uk-UA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Reject</a:t>
            </a:r>
            <a:r>
              <a:rPr kumimoji="0" lang="uk-UA" altLang="uk-UA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Weak-Form</a:t>
            </a:r>
            <a:r>
              <a:rPr kumimoji="0" lang="uk-UA" altLang="uk-UA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Efficiency</a:t>
            </a:r>
            <a:r>
              <a:rPr kumimoji="0" lang="uk-UA" altLang="uk-UA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Models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successfully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used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past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prices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to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predict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future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direction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with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&gt;53%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accuracy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Historical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information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is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not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fully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reflected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current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prices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contradicting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the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strict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EMH.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Practical</a:t>
            </a:r>
            <a:r>
              <a:rPr kumimoji="0" lang="uk-UA" altLang="uk-U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Outlook: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~3.8% </a:t>
            </a: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guessing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suggests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BTC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Incomplete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Semi-Weak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its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Profitability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trading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would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still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costs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526473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1_UniLeipzig_PPT Vorlage">
  <a:themeElements>
    <a:clrScheme name="Universität Leipzig">
      <a:dk1>
        <a:sysClr val="windowText" lastClr="000000"/>
      </a:dk1>
      <a:lt1>
        <a:sysClr val="window" lastClr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äsentation1" id="{AF34A279-AF28-43F2-ABC2-47D9B1B138CB}" vid="{DD2B7E31-7D7E-491A-8902-5469ADF73115}"/>
    </a:ext>
  </a:extLst>
</a:theme>
</file>

<file path=ppt/theme/theme2.xml><?xml version="1.0" encoding="utf-8"?>
<a:theme xmlns:a="http://schemas.openxmlformats.org/drawingml/2006/main" name="Master2_UniLeipzig_PPT Vorlage">
  <a:themeElements>
    <a:clrScheme name="Universität Leipzig">
      <a:dk1>
        <a:sysClr val="windowText" lastClr="000000"/>
      </a:dk1>
      <a:lt1>
        <a:sysClr val="window" lastClr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i="0" smtClean="0">
            <a:latin typeface="+mn-lt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AF34A279-AF28-43F2-ABC2-47D9B1B138CB}" vid="{493468B7-7E68-4CF9-8FE6-B4E896B34C69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_Musterfoliensatz_16zu9</Template>
  <TotalTime>208</TotalTime>
  <Words>162</Words>
  <Application>Microsoft Office PowerPoint</Application>
  <PresentationFormat>Екран (16:9)</PresentationFormat>
  <Paragraphs>37</Paragraphs>
  <Slides>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слайдів</vt:lpstr>
      </vt:variant>
      <vt:variant>
        <vt:i4>5</vt:i4>
      </vt:variant>
    </vt:vector>
  </HeadingPairs>
  <TitlesOfParts>
    <vt:vector size="14" baseType="lpstr">
      <vt:lpstr>Arial</vt:lpstr>
      <vt:lpstr>Calibri</vt:lpstr>
      <vt:lpstr>Courier New</vt:lpstr>
      <vt:lpstr>Futura</vt:lpstr>
      <vt:lpstr>Google Sans Text</vt:lpstr>
      <vt:lpstr>Symbol</vt:lpstr>
      <vt:lpstr>Wingdings</vt:lpstr>
      <vt:lpstr>Master1_UniLeipzig_PPT Vorlage</vt:lpstr>
      <vt:lpstr>Master2_UniLeipzig_PPT Vorlage</vt:lpstr>
      <vt:lpstr>Prediction Results</vt:lpstr>
      <vt:lpstr>Model Performance Metrics. EVALUATION OF ML MODELS</vt:lpstr>
      <vt:lpstr>Презентація PowerPoint</vt:lpstr>
      <vt:lpstr>Презентація PowerPoint</vt:lpstr>
      <vt:lpstr>IMPLICATIONS FOR BTC MARKET EFFICIENCY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Market Efficiency of BTC using ML</dc:title>
  <dc:creator>Valecha, Rohit Naresh</dc:creator>
  <cp:lastModifiedBy>Остап Беднарчук</cp:lastModifiedBy>
  <cp:revision>23</cp:revision>
  <cp:lastPrinted>2017-09-28T12:33:25Z</cp:lastPrinted>
  <dcterms:created xsi:type="dcterms:W3CDTF">2025-11-28T16:01:54Z</dcterms:created>
  <dcterms:modified xsi:type="dcterms:W3CDTF">2026-02-17T13:32:48Z</dcterms:modified>
</cp:coreProperties>
</file>
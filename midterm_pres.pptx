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  <p:sldMasterId id="2147483881" r:id="rId2"/>
  </p:sldMasterIdLst>
  <p:notesMasterIdLst>
    <p:notesMasterId r:id="rId12"/>
  </p:notesMasterIdLst>
  <p:handoutMasterIdLst>
    <p:handoutMasterId r:id="rId13"/>
  </p:handoutMasterIdLst>
  <p:sldIdLst>
    <p:sldId id="288" r:id="rId3"/>
    <p:sldId id="289" r:id="rId4"/>
    <p:sldId id="290" r:id="rId5"/>
    <p:sldId id="309" r:id="rId6"/>
    <p:sldId id="306" r:id="rId7"/>
    <p:sldId id="294" r:id="rId8"/>
    <p:sldId id="307" r:id="rId9"/>
    <p:sldId id="308" r:id="rId10"/>
    <p:sldId id="285" r:id="rId11"/>
  </p:sldIdLst>
  <p:sldSz cx="9144000" cy="5143500" type="screen16x9"/>
  <p:notesSz cx="6858000" cy="9144000"/>
  <p:defaultTextStyle>
    <a:defPPr>
      <a:defRPr lang="de-DE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451"/>
    <a:srgbClr val="262A31"/>
    <a:srgbClr val="B2B2B2"/>
    <a:srgbClr val="C9C9C9"/>
    <a:srgbClr val="969696"/>
    <a:srgbClr val="4D4D4D"/>
    <a:srgbClr val="242424"/>
    <a:srgbClr val="79B2D4"/>
    <a:srgbClr val="91B7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Mittlere Formatvorlage 3 - Akz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6513" autoAdjust="0"/>
  </p:normalViewPr>
  <p:slideViewPr>
    <p:cSldViewPr snapToGrid="0" snapToObjects="1" showGuides="1">
      <p:cViewPr varScale="1">
        <p:scale>
          <a:sx n="112" d="100"/>
          <a:sy n="112" d="100"/>
        </p:scale>
        <p:origin x="1620" y="9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napToObjects="1" showGuides="1">
      <p:cViewPr varScale="1">
        <p:scale>
          <a:sx n="85" d="100"/>
          <a:sy n="85" d="100"/>
        </p:scale>
        <p:origin x="380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2D1D50A-91A0-4313-AF41-8FA8C1A6F672}" type="datetimeFigureOut">
              <a:rPr lang="de-DE" altLang="de-DE"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03.12.2025</a:t>
            </a:fld>
            <a:endParaRPr lang="de-DE" alt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835DF71-E1E2-47C3-B9FA-47C07B346B8B}" type="slidenum">
              <a:rPr lang="de-DE" altLang="de-DE"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‹#›</a:t>
            </a:fld>
            <a:endParaRPr lang="de-DE" alt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7005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91E3895C-9893-433E-BD86-ABF19E357674}" type="datetimeFigureOut">
              <a:rPr lang="de-DE" altLang="de-DE" smtClean="0"/>
              <a:pPr>
                <a:defRPr/>
              </a:pPr>
              <a:t>03.12.2025</a:t>
            </a:fld>
            <a:endParaRPr lang="de-DE" alt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 dirty="0"/>
              <a:t>Mastertextformat bearbeiten</a:t>
            </a:r>
          </a:p>
          <a:p>
            <a:pPr lvl="1"/>
            <a:r>
              <a:rPr lang="de-DE" altLang="de-DE" noProof="0" dirty="0"/>
              <a:t>Zweite Ebene</a:t>
            </a:r>
          </a:p>
          <a:p>
            <a:pPr lvl="2"/>
            <a:r>
              <a:rPr lang="de-DE" altLang="de-DE" noProof="0" dirty="0"/>
              <a:t>Dritte Ebene</a:t>
            </a:r>
          </a:p>
          <a:p>
            <a:pPr lvl="3"/>
            <a:r>
              <a:rPr lang="de-DE" altLang="de-DE" noProof="0" dirty="0"/>
              <a:t>Vierte Ebene</a:t>
            </a:r>
          </a:p>
          <a:p>
            <a:pPr lvl="4"/>
            <a:r>
              <a:rPr lang="de-DE" altLang="de-DE" noProof="0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FF73AAAE-5F9A-4204-AFEA-00ECD2D60F92}" type="slidenum">
              <a:rPr lang="de-DE" altLang="de-DE" smtClean="0"/>
              <a:pPr>
                <a:defRPr/>
              </a:pPr>
              <a:t>‹#›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71754161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Arial" panose="020B0604020202020204" pitchFamily="34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Arial" panose="020B0604020202020204" pitchFamily="34" charset="0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Arial" panose="020B0604020202020204" pitchFamily="34" charset="0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Arial" panose="020B0604020202020204" pitchFamily="34" charset="0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Arial" panose="020B0604020202020204" pitchFamily="34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Good Morning, Today we are going to present our topic: 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F73AAAE-5F9A-4204-AFEA-00ECD2D60F92}" type="slidenum">
              <a:rPr lang="de-DE" altLang="de-DE" smtClean="0"/>
              <a:pPr>
                <a:defRPr/>
              </a:pPr>
              <a:t>1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42245987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Can </a:t>
            </a:r>
            <a:r>
              <a:rPr lang="en-GB"/>
              <a:t>be changed</a:t>
            </a:r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F73AAAE-5F9A-4204-AFEA-00ECD2D60F92}" type="slidenum">
              <a:rPr lang="de-DE" altLang="de-DE" smtClean="0"/>
              <a:pPr>
                <a:defRPr/>
              </a:pPr>
              <a:t>2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6686329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Without going into too much detail, EMH is a theory that states that the price of an asset reflects all known information about that asset. Therefore, you cannot beat the market.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We will test it on Bitcoin, which due to its  volatile nature has become a speculative commodity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We will test the efficiency by training a model using just the past movements of the price to predict and we will also try to prediction based on the public reaction to bitcoin online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F73AAAE-5F9A-4204-AFEA-00ECD2D60F92}" type="slidenum">
              <a:rPr lang="de-DE" altLang="de-DE" smtClean="0"/>
              <a:pPr>
                <a:defRPr/>
              </a:pPr>
              <a:t>3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13495400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In order to do that we Analyse more than 1 million bitcoin tweets by .ca 200k users from Feb 2021 to August 2021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And we will </a:t>
            </a:r>
            <a:endParaRPr lang="en-DE" dirty="0"/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F73AAAE-5F9A-4204-AFEA-00ECD2D60F92}" type="slidenum">
              <a:rPr lang="de-DE" altLang="de-DE" smtClean="0"/>
              <a:pPr>
                <a:defRPr/>
              </a:pPr>
              <a:t>4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2860104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9002" y="0"/>
            <a:ext cx="3524250" cy="5157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Bild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" y="5093"/>
            <a:ext cx="3428998" cy="1442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95687" y="2078847"/>
            <a:ext cx="8092705" cy="1487313"/>
          </a:xfrm>
        </p:spPr>
        <p:txBody>
          <a:bodyPr anchor="t"/>
          <a:lstStyle>
            <a:lvl1pPr>
              <a:defRPr sz="2800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95687" y="1606876"/>
            <a:ext cx="6400800" cy="471971"/>
          </a:xfrm>
        </p:spPr>
        <p:txBody>
          <a:bodyPr anchor="b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1"/>
          </p:nvPr>
        </p:nvSpPr>
        <p:spPr>
          <a:xfrm>
            <a:off x="295687" y="4439286"/>
            <a:ext cx="2098597" cy="517525"/>
          </a:xfrm>
        </p:spPr>
        <p:txBody>
          <a:bodyPr>
            <a:noAutofit/>
          </a:bodyPr>
          <a:lstStyle>
            <a:lvl1pPr marL="0" indent="0" algn="l"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2"/>
          </p:nvPr>
        </p:nvSpPr>
        <p:spPr>
          <a:xfrm>
            <a:off x="2453698" y="4444369"/>
            <a:ext cx="2184476" cy="517525"/>
          </a:xfrm>
        </p:spPr>
        <p:txBody>
          <a:bodyPr>
            <a:noAutofit/>
          </a:bodyPr>
          <a:lstStyle>
            <a:lvl1pPr marL="0" indent="0" algn="l"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26415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folie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platzhalter 4"/>
          <p:cNvSpPr>
            <a:spLocks noGrp="1"/>
          </p:cNvSpPr>
          <p:nvPr>
            <p:ph type="body" sz="quarter" idx="13"/>
          </p:nvPr>
        </p:nvSpPr>
        <p:spPr bwMode="auto">
          <a:xfrm>
            <a:off x="3501688" y="-5922"/>
            <a:ext cx="5654316" cy="5152775"/>
          </a:xfrm>
          <a:custGeom>
            <a:avLst/>
            <a:gdLst>
              <a:gd name="connsiteX0" fmla="*/ 0 w 2419350"/>
              <a:gd name="connsiteY0" fmla="*/ 5172957 h 5172957"/>
              <a:gd name="connsiteX1" fmla="*/ 604838 w 2419350"/>
              <a:gd name="connsiteY1" fmla="*/ 0 h 5172957"/>
              <a:gd name="connsiteX2" fmla="*/ 1814513 w 2419350"/>
              <a:gd name="connsiteY2" fmla="*/ 0 h 5172957"/>
              <a:gd name="connsiteX3" fmla="*/ 2419350 w 2419350"/>
              <a:gd name="connsiteY3" fmla="*/ 5172957 h 5172957"/>
              <a:gd name="connsiteX4" fmla="*/ 0 w 2419350"/>
              <a:gd name="connsiteY4" fmla="*/ 5172957 h 5172957"/>
              <a:gd name="connsiteX0" fmla="*/ 0 w 2439138"/>
              <a:gd name="connsiteY0" fmla="*/ 5172957 h 5172957"/>
              <a:gd name="connsiteX1" fmla="*/ 604838 w 2439138"/>
              <a:gd name="connsiteY1" fmla="*/ 0 h 5172957"/>
              <a:gd name="connsiteX2" fmla="*/ 2439138 w 2439138"/>
              <a:gd name="connsiteY2" fmla="*/ 6439 h 5172957"/>
              <a:gd name="connsiteX3" fmla="*/ 2419350 w 2439138"/>
              <a:gd name="connsiteY3" fmla="*/ 5172957 h 5172957"/>
              <a:gd name="connsiteX4" fmla="*/ 0 w 2439138"/>
              <a:gd name="connsiteY4" fmla="*/ 5172957 h 5172957"/>
              <a:gd name="connsiteX0" fmla="*/ 3226626 w 5665764"/>
              <a:gd name="connsiteY0" fmla="*/ 5166518 h 5166518"/>
              <a:gd name="connsiteX1" fmla="*/ 0 w 5665764"/>
              <a:gd name="connsiteY1" fmla="*/ 6440 h 5166518"/>
              <a:gd name="connsiteX2" fmla="*/ 5665764 w 5665764"/>
              <a:gd name="connsiteY2" fmla="*/ 0 h 5166518"/>
              <a:gd name="connsiteX3" fmla="*/ 5645976 w 5665764"/>
              <a:gd name="connsiteY3" fmla="*/ 5166518 h 5166518"/>
              <a:gd name="connsiteX4" fmla="*/ 3226626 w 5665764"/>
              <a:gd name="connsiteY4" fmla="*/ 5166518 h 5166518"/>
              <a:gd name="connsiteX0" fmla="*/ 2421696 w 5665764"/>
              <a:gd name="connsiteY0" fmla="*/ 5192275 h 5192275"/>
              <a:gd name="connsiteX1" fmla="*/ 0 w 5665764"/>
              <a:gd name="connsiteY1" fmla="*/ 6440 h 5192275"/>
              <a:gd name="connsiteX2" fmla="*/ 5665764 w 5665764"/>
              <a:gd name="connsiteY2" fmla="*/ 0 h 5192275"/>
              <a:gd name="connsiteX3" fmla="*/ 5645976 w 5665764"/>
              <a:gd name="connsiteY3" fmla="*/ 5166518 h 5192275"/>
              <a:gd name="connsiteX4" fmla="*/ 2421696 w 5665764"/>
              <a:gd name="connsiteY4" fmla="*/ 5192275 h 5192275"/>
              <a:gd name="connsiteX0" fmla="*/ 2421696 w 5665764"/>
              <a:gd name="connsiteY0" fmla="*/ 5183177 h 5183177"/>
              <a:gd name="connsiteX1" fmla="*/ 0 w 5665764"/>
              <a:gd name="connsiteY1" fmla="*/ 6440 h 5183177"/>
              <a:gd name="connsiteX2" fmla="*/ 5665764 w 5665764"/>
              <a:gd name="connsiteY2" fmla="*/ 0 h 5183177"/>
              <a:gd name="connsiteX3" fmla="*/ 5645976 w 5665764"/>
              <a:gd name="connsiteY3" fmla="*/ 5166518 h 5183177"/>
              <a:gd name="connsiteX4" fmla="*/ 2421696 w 5665764"/>
              <a:gd name="connsiteY4" fmla="*/ 5183177 h 5183177"/>
              <a:gd name="connsiteX0" fmla="*/ 2421696 w 5665764"/>
              <a:gd name="connsiteY0" fmla="*/ 5174079 h 5174079"/>
              <a:gd name="connsiteX1" fmla="*/ 0 w 5665764"/>
              <a:gd name="connsiteY1" fmla="*/ 6440 h 5174079"/>
              <a:gd name="connsiteX2" fmla="*/ 5665764 w 5665764"/>
              <a:gd name="connsiteY2" fmla="*/ 0 h 5174079"/>
              <a:gd name="connsiteX3" fmla="*/ 5645976 w 5665764"/>
              <a:gd name="connsiteY3" fmla="*/ 5166518 h 5174079"/>
              <a:gd name="connsiteX4" fmla="*/ 2421696 w 5665764"/>
              <a:gd name="connsiteY4" fmla="*/ 5174079 h 5174079"/>
              <a:gd name="connsiteX0" fmla="*/ 2417147 w 5665764"/>
              <a:gd name="connsiteY0" fmla="*/ 5169530 h 5169530"/>
              <a:gd name="connsiteX1" fmla="*/ 0 w 5665764"/>
              <a:gd name="connsiteY1" fmla="*/ 6440 h 5169530"/>
              <a:gd name="connsiteX2" fmla="*/ 5665764 w 5665764"/>
              <a:gd name="connsiteY2" fmla="*/ 0 h 5169530"/>
              <a:gd name="connsiteX3" fmla="*/ 5645976 w 5665764"/>
              <a:gd name="connsiteY3" fmla="*/ 5166518 h 5169530"/>
              <a:gd name="connsiteX4" fmla="*/ 2417147 w 5665764"/>
              <a:gd name="connsiteY4" fmla="*/ 5169530 h 5169530"/>
              <a:gd name="connsiteX0" fmla="*/ 2417147 w 5652116"/>
              <a:gd name="connsiteY0" fmla="*/ 5164981 h 5164981"/>
              <a:gd name="connsiteX1" fmla="*/ 0 w 5652116"/>
              <a:gd name="connsiteY1" fmla="*/ 1891 h 5164981"/>
              <a:gd name="connsiteX2" fmla="*/ 5652116 w 5652116"/>
              <a:gd name="connsiteY2" fmla="*/ 0 h 5164981"/>
              <a:gd name="connsiteX3" fmla="*/ 5645976 w 5652116"/>
              <a:gd name="connsiteY3" fmla="*/ 5161969 h 5164981"/>
              <a:gd name="connsiteX4" fmla="*/ 2417147 w 5652116"/>
              <a:gd name="connsiteY4" fmla="*/ 5164981 h 5164981"/>
              <a:gd name="connsiteX0" fmla="*/ 2417147 w 5646219"/>
              <a:gd name="connsiteY0" fmla="*/ 5163090 h 5163090"/>
              <a:gd name="connsiteX1" fmla="*/ 0 w 5646219"/>
              <a:gd name="connsiteY1" fmla="*/ 0 h 5163090"/>
              <a:gd name="connsiteX2" fmla="*/ 5638468 w 5646219"/>
              <a:gd name="connsiteY2" fmla="*/ 11757 h 5163090"/>
              <a:gd name="connsiteX3" fmla="*/ 5645976 w 5646219"/>
              <a:gd name="connsiteY3" fmla="*/ 5160078 h 5163090"/>
              <a:gd name="connsiteX4" fmla="*/ 2417147 w 5646219"/>
              <a:gd name="connsiteY4" fmla="*/ 5163090 h 5163090"/>
              <a:gd name="connsiteX0" fmla="*/ 2417147 w 5646219"/>
              <a:gd name="connsiteY0" fmla="*/ 5164981 h 5164981"/>
              <a:gd name="connsiteX1" fmla="*/ 0 w 5646219"/>
              <a:gd name="connsiteY1" fmla="*/ 1891 h 5164981"/>
              <a:gd name="connsiteX2" fmla="*/ 5638468 w 5646219"/>
              <a:gd name="connsiteY2" fmla="*/ 0 h 5164981"/>
              <a:gd name="connsiteX3" fmla="*/ 5645976 w 5646219"/>
              <a:gd name="connsiteY3" fmla="*/ 5161969 h 5164981"/>
              <a:gd name="connsiteX4" fmla="*/ 2417147 w 5646219"/>
              <a:gd name="connsiteY4" fmla="*/ 5164981 h 5164981"/>
              <a:gd name="connsiteX0" fmla="*/ 2417147 w 5641803"/>
              <a:gd name="connsiteY0" fmla="*/ 5164981 h 5164981"/>
              <a:gd name="connsiteX1" fmla="*/ 0 w 5641803"/>
              <a:gd name="connsiteY1" fmla="*/ 1891 h 5164981"/>
              <a:gd name="connsiteX2" fmla="*/ 5638468 w 5641803"/>
              <a:gd name="connsiteY2" fmla="*/ 0 h 5164981"/>
              <a:gd name="connsiteX3" fmla="*/ 5641426 w 5641803"/>
              <a:gd name="connsiteY3" fmla="*/ 5161969 h 5164981"/>
              <a:gd name="connsiteX4" fmla="*/ 2417147 w 5641803"/>
              <a:gd name="connsiteY4" fmla="*/ 5164981 h 5164981"/>
              <a:gd name="connsiteX0" fmla="*/ 2417147 w 5643017"/>
              <a:gd name="connsiteY0" fmla="*/ 5174079 h 5174079"/>
              <a:gd name="connsiteX1" fmla="*/ 0 w 5643017"/>
              <a:gd name="connsiteY1" fmla="*/ 10989 h 5174079"/>
              <a:gd name="connsiteX2" fmla="*/ 5643017 w 5643017"/>
              <a:gd name="connsiteY2" fmla="*/ 0 h 5174079"/>
              <a:gd name="connsiteX3" fmla="*/ 5641426 w 5643017"/>
              <a:gd name="connsiteY3" fmla="*/ 5171067 h 5174079"/>
              <a:gd name="connsiteX4" fmla="*/ 2417147 w 5643017"/>
              <a:gd name="connsiteY4" fmla="*/ 5174079 h 5174079"/>
              <a:gd name="connsiteX0" fmla="*/ 2417147 w 5643017"/>
              <a:gd name="connsiteY0" fmla="*/ 5174079 h 5174079"/>
              <a:gd name="connsiteX1" fmla="*/ 0 w 5643017"/>
              <a:gd name="connsiteY1" fmla="*/ 4609 h 5174079"/>
              <a:gd name="connsiteX2" fmla="*/ 5643017 w 5643017"/>
              <a:gd name="connsiteY2" fmla="*/ 0 h 5174079"/>
              <a:gd name="connsiteX3" fmla="*/ 5641426 w 5643017"/>
              <a:gd name="connsiteY3" fmla="*/ 5171067 h 5174079"/>
              <a:gd name="connsiteX4" fmla="*/ 2417147 w 5643017"/>
              <a:gd name="connsiteY4" fmla="*/ 5174079 h 5174079"/>
              <a:gd name="connsiteX0" fmla="*/ 2417147 w 5654316"/>
              <a:gd name="connsiteY0" fmla="*/ 5174079 h 5177448"/>
              <a:gd name="connsiteX1" fmla="*/ 0 w 5654316"/>
              <a:gd name="connsiteY1" fmla="*/ 4609 h 5177448"/>
              <a:gd name="connsiteX2" fmla="*/ 5643017 w 5654316"/>
              <a:gd name="connsiteY2" fmla="*/ 0 h 5177448"/>
              <a:gd name="connsiteX3" fmla="*/ 5654126 w 5654316"/>
              <a:gd name="connsiteY3" fmla="*/ 5177448 h 5177448"/>
              <a:gd name="connsiteX4" fmla="*/ 2417147 w 5654316"/>
              <a:gd name="connsiteY4" fmla="*/ 5174079 h 5177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54316" h="5177448">
                <a:moveTo>
                  <a:pt x="2417147" y="5174079"/>
                </a:moveTo>
                <a:lnTo>
                  <a:pt x="0" y="4609"/>
                </a:lnTo>
                <a:lnTo>
                  <a:pt x="5643017" y="0"/>
                </a:lnTo>
                <a:cubicBezTo>
                  <a:pt x="5640970" y="1720656"/>
                  <a:pt x="5656173" y="3456792"/>
                  <a:pt x="5654126" y="5177448"/>
                </a:cubicBezTo>
                <a:lnTo>
                  <a:pt x="2417147" y="517407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4pPr>
              <a:defRPr>
                <a:ln>
                  <a:solidFill>
                    <a:schemeClr val="accent1"/>
                  </a:solidFill>
                </a:ln>
                <a:solidFill>
                  <a:schemeClr val="accent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1"/>
          </p:nvPr>
        </p:nvSpPr>
        <p:spPr bwMode="auto">
          <a:xfrm>
            <a:off x="4429719" y="-4153"/>
            <a:ext cx="4711557" cy="5154092"/>
          </a:xfrm>
          <a:custGeom>
            <a:avLst/>
            <a:gdLst>
              <a:gd name="connsiteX0" fmla="*/ 0 w 1466850"/>
              <a:gd name="connsiteY0" fmla="*/ 1608226 h 1608226"/>
              <a:gd name="connsiteX1" fmla="*/ 366713 w 1466850"/>
              <a:gd name="connsiteY1" fmla="*/ 0 h 1608226"/>
              <a:gd name="connsiteX2" fmla="*/ 1466850 w 1466850"/>
              <a:gd name="connsiteY2" fmla="*/ 0 h 1608226"/>
              <a:gd name="connsiteX3" fmla="*/ 1100138 w 1466850"/>
              <a:gd name="connsiteY3" fmla="*/ 1608226 h 1608226"/>
              <a:gd name="connsiteX4" fmla="*/ 0 w 1466850"/>
              <a:gd name="connsiteY4" fmla="*/ 1608226 h 1608226"/>
              <a:gd name="connsiteX0" fmla="*/ 0 w 2304312"/>
              <a:gd name="connsiteY0" fmla="*/ 1608226 h 1614665"/>
              <a:gd name="connsiteX1" fmla="*/ 366713 w 2304312"/>
              <a:gd name="connsiteY1" fmla="*/ 0 h 1614665"/>
              <a:gd name="connsiteX2" fmla="*/ 1466850 w 2304312"/>
              <a:gd name="connsiteY2" fmla="*/ 0 h 1614665"/>
              <a:gd name="connsiteX3" fmla="*/ 2304312 w 2304312"/>
              <a:gd name="connsiteY3" fmla="*/ 1614665 h 1614665"/>
              <a:gd name="connsiteX4" fmla="*/ 0 w 2304312"/>
              <a:gd name="connsiteY4" fmla="*/ 1608226 h 1614665"/>
              <a:gd name="connsiteX0" fmla="*/ 0 w 4725205"/>
              <a:gd name="connsiteY0" fmla="*/ 5162795 h 5169234"/>
              <a:gd name="connsiteX1" fmla="*/ 366713 w 4725205"/>
              <a:gd name="connsiteY1" fmla="*/ 3554569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5205"/>
              <a:gd name="connsiteY0" fmla="*/ 5162795 h 5169234"/>
              <a:gd name="connsiteX1" fmla="*/ 2369378 w 4725205"/>
              <a:gd name="connsiteY1" fmla="*/ 19319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5205"/>
              <a:gd name="connsiteY0" fmla="*/ 5162795 h 5169234"/>
              <a:gd name="connsiteX1" fmla="*/ 2382257 w 4725205"/>
              <a:gd name="connsiteY1" fmla="*/ 1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0656"/>
              <a:gd name="connsiteY0" fmla="*/ 5176443 h 5176443"/>
              <a:gd name="connsiteX1" fmla="*/ 2377708 w 4720656"/>
              <a:gd name="connsiteY1" fmla="*/ 1 h 5176443"/>
              <a:gd name="connsiteX2" fmla="*/ 4720656 w 4720656"/>
              <a:gd name="connsiteY2" fmla="*/ 0 h 5176443"/>
              <a:gd name="connsiteX3" fmla="*/ 2299763 w 4720656"/>
              <a:gd name="connsiteY3" fmla="*/ 5169234 h 5176443"/>
              <a:gd name="connsiteX4" fmla="*/ 0 w 4720656"/>
              <a:gd name="connsiteY4" fmla="*/ 5176443 h 5176443"/>
              <a:gd name="connsiteX0" fmla="*/ 0 w 4720656"/>
              <a:gd name="connsiteY0" fmla="*/ 5176443 h 5176443"/>
              <a:gd name="connsiteX1" fmla="*/ 2377708 w 4720656"/>
              <a:gd name="connsiteY1" fmla="*/ 1 h 5176443"/>
              <a:gd name="connsiteX2" fmla="*/ 4720656 w 4720656"/>
              <a:gd name="connsiteY2" fmla="*/ 0 h 5176443"/>
              <a:gd name="connsiteX3" fmla="*/ 2299763 w 4720656"/>
              <a:gd name="connsiteY3" fmla="*/ 5169234 h 5176443"/>
              <a:gd name="connsiteX4" fmla="*/ 0 w 4720656"/>
              <a:gd name="connsiteY4" fmla="*/ 5176443 h 5176443"/>
              <a:gd name="connsiteX0" fmla="*/ 0 w 4711557"/>
              <a:gd name="connsiteY0" fmla="*/ 5167345 h 5169234"/>
              <a:gd name="connsiteX1" fmla="*/ 2368609 w 4711557"/>
              <a:gd name="connsiteY1" fmla="*/ 1 h 5169234"/>
              <a:gd name="connsiteX2" fmla="*/ 4711557 w 4711557"/>
              <a:gd name="connsiteY2" fmla="*/ 0 h 5169234"/>
              <a:gd name="connsiteX3" fmla="*/ 2290664 w 4711557"/>
              <a:gd name="connsiteY3" fmla="*/ 5169234 h 5169234"/>
              <a:gd name="connsiteX4" fmla="*/ 0 w 4711557"/>
              <a:gd name="connsiteY4" fmla="*/ 5167345 h 5169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11557" h="5169234">
                <a:moveTo>
                  <a:pt x="0" y="5167345"/>
                </a:moveTo>
                <a:lnTo>
                  <a:pt x="2368609" y="1"/>
                </a:lnTo>
                <a:lnTo>
                  <a:pt x="4711557" y="0"/>
                </a:lnTo>
                <a:lnTo>
                  <a:pt x="2290664" y="5169234"/>
                </a:lnTo>
                <a:lnTo>
                  <a:pt x="0" y="5167345"/>
                </a:lnTo>
                <a:close/>
              </a:path>
            </a:pathLst>
          </a:custGeom>
          <a:solidFill>
            <a:srgbClr val="FF5451">
              <a:alpha val="5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4pPr>
              <a:defRPr>
                <a:ln>
                  <a:solidFill>
                    <a:srgbClr val="FF5451"/>
                  </a:solidFill>
                </a:ln>
                <a:solidFill>
                  <a:srgbClr val="FF545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113728" y="1066801"/>
            <a:ext cx="3562911" cy="350998"/>
          </a:xfrm>
        </p:spPr>
        <p:txBody>
          <a:bodyPr anchor="b">
            <a:noAutofit/>
          </a:bodyPr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Bildplatzhalter"/>
          <p:cNvSpPr>
            <a:spLocks noGrp="1"/>
          </p:cNvSpPr>
          <p:nvPr>
            <p:ph type="pic" sz="quarter" idx="10"/>
          </p:nvPr>
        </p:nvSpPr>
        <p:spPr bwMode="auto">
          <a:xfrm>
            <a:off x="-1" y="0"/>
            <a:ext cx="6115051" cy="5149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800" baseline="0"/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113728" y="1447164"/>
            <a:ext cx="3562911" cy="2201545"/>
          </a:xfrm>
        </p:spPr>
        <p:txBody>
          <a:bodyPr anchor="t"/>
          <a:lstStyle>
            <a:lvl1pPr algn="r">
              <a:defRPr sz="2800" b="1" cap="all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24199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folie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platzhalter 4"/>
          <p:cNvSpPr>
            <a:spLocks noGrp="1"/>
          </p:cNvSpPr>
          <p:nvPr>
            <p:ph type="body" sz="quarter" idx="13"/>
          </p:nvPr>
        </p:nvSpPr>
        <p:spPr bwMode="auto">
          <a:xfrm flipH="1">
            <a:off x="-14439" y="-5922"/>
            <a:ext cx="5654316" cy="5152775"/>
          </a:xfrm>
          <a:custGeom>
            <a:avLst/>
            <a:gdLst>
              <a:gd name="connsiteX0" fmla="*/ 0 w 2419350"/>
              <a:gd name="connsiteY0" fmla="*/ 5172957 h 5172957"/>
              <a:gd name="connsiteX1" fmla="*/ 604838 w 2419350"/>
              <a:gd name="connsiteY1" fmla="*/ 0 h 5172957"/>
              <a:gd name="connsiteX2" fmla="*/ 1814513 w 2419350"/>
              <a:gd name="connsiteY2" fmla="*/ 0 h 5172957"/>
              <a:gd name="connsiteX3" fmla="*/ 2419350 w 2419350"/>
              <a:gd name="connsiteY3" fmla="*/ 5172957 h 5172957"/>
              <a:gd name="connsiteX4" fmla="*/ 0 w 2419350"/>
              <a:gd name="connsiteY4" fmla="*/ 5172957 h 5172957"/>
              <a:gd name="connsiteX0" fmla="*/ 0 w 2439138"/>
              <a:gd name="connsiteY0" fmla="*/ 5172957 h 5172957"/>
              <a:gd name="connsiteX1" fmla="*/ 604838 w 2439138"/>
              <a:gd name="connsiteY1" fmla="*/ 0 h 5172957"/>
              <a:gd name="connsiteX2" fmla="*/ 2439138 w 2439138"/>
              <a:gd name="connsiteY2" fmla="*/ 6439 h 5172957"/>
              <a:gd name="connsiteX3" fmla="*/ 2419350 w 2439138"/>
              <a:gd name="connsiteY3" fmla="*/ 5172957 h 5172957"/>
              <a:gd name="connsiteX4" fmla="*/ 0 w 2439138"/>
              <a:gd name="connsiteY4" fmla="*/ 5172957 h 5172957"/>
              <a:gd name="connsiteX0" fmla="*/ 3226626 w 5665764"/>
              <a:gd name="connsiteY0" fmla="*/ 5166518 h 5166518"/>
              <a:gd name="connsiteX1" fmla="*/ 0 w 5665764"/>
              <a:gd name="connsiteY1" fmla="*/ 6440 h 5166518"/>
              <a:gd name="connsiteX2" fmla="*/ 5665764 w 5665764"/>
              <a:gd name="connsiteY2" fmla="*/ 0 h 5166518"/>
              <a:gd name="connsiteX3" fmla="*/ 5645976 w 5665764"/>
              <a:gd name="connsiteY3" fmla="*/ 5166518 h 5166518"/>
              <a:gd name="connsiteX4" fmla="*/ 3226626 w 5665764"/>
              <a:gd name="connsiteY4" fmla="*/ 5166518 h 5166518"/>
              <a:gd name="connsiteX0" fmla="*/ 2421696 w 5665764"/>
              <a:gd name="connsiteY0" fmla="*/ 5192275 h 5192275"/>
              <a:gd name="connsiteX1" fmla="*/ 0 w 5665764"/>
              <a:gd name="connsiteY1" fmla="*/ 6440 h 5192275"/>
              <a:gd name="connsiteX2" fmla="*/ 5665764 w 5665764"/>
              <a:gd name="connsiteY2" fmla="*/ 0 h 5192275"/>
              <a:gd name="connsiteX3" fmla="*/ 5645976 w 5665764"/>
              <a:gd name="connsiteY3" fmla="*/ 5166518 h 5192275"/>
              <a:gd name="connsiteX4" fmla="*/ 2421696 w 5665764"/>
              <a:gd name="connsiteY4" fmla="*/ 5192275 h 5192275"/>
              <a:gd name="connsiteX0" fmla="*/ 2421696 w 5665764"/>
              <a:gd name="connsiteY0" fmla="*/ 5183177 h 5183177"/>
              <a:gd name="connsiteX1" fmla="*/ 0 w 5665764"/>
              <a:gd name="connsiteY1" fmla="*/ 6440 h 5183177"/>
              <a:gd name="connsiteX2" fmla="*/ 5665764 w 5665764"/>
              <a:gd name="connsiteY2" fmla="*/ 0 h 5183177"/>
              <a:gd name="connsiteX3" fmla="*/ 5645976 w 5665764"/>
              <a:gd name="connsiteY3" fmla="*/ 5166518 h 5183177"/>
              <a:gd name="connsiteX4" fmla="*/ 2421696 w 5665764"/>
              <a:gd name="connsiteY4" fmla="*/ 5183177 h 5183177"/>
              <a:gd name="connsiteX0" fmla="*/ 2421696 w 5665764"/>
              <a:gd name="connsiteY0" fmla="*/ 5174079 h 5174079"/>
              <a:gd name="connsiteX1" fmla="*/ 0 w 5665764"/>
              <a:gd name="connsiteY1" fmla="*/ 6440 h 5174079"/>
              <a:gd name="connsiteX2" fmla="*/ 5665764 w 5665764"/>
              <a:gd name="connsiteY2" fmla="*/ 0 h 5174079"/>
              <a:gd name="connsiteX3" fmla="*/ 5645976 w 5665764"/>
              <a:gd name="connsiteY3" fmla="*/ 5166518 h 5174079"/>
              <a:gd name="connsiteX4" fmla="*/ 2421696 w 5665764"/>
              <a:gd name="connsiteY4" fmla="*/ 5174079 h 5174079"/>
              <a:gd name="connsiteX0" fmla="*/ 2417147 w 5665764"/>
              <a:gd name="connsiteY0" fmla="*/ 5169530 h 5169530"/>
              <a:gd name="connsiteX1" fmla="*/ 0 w 5665764"/>
              <a:gd name="connsiteY1" fmla="*/ 6440 h 5169530"/>
              <a:gd name="connsiteX2" fmla="*/ 5665764 w 5665764"/>
              <a:gd name="connsiteY2" fmla="*/ 0 h 5169530"/>
              <a:gd name="connsiteX3" fmla="*/ 5645976 w 5665764"/>
              <a:gd name="connsiteY3" fmla="*/ 5166518 h 5169530"/>
              <a:gd name="connsiteX4" fmla="*/ 2417147 w 5665764"/>
              <a:gd name="connsiteY4" fmla="*/ 5169530 h 5169530"/>
              <a:gd name="connsiteX0" fmla="*/ 2417147 w 5652116"/>
              <a:gd name="connsiteY0" fmla="*/ 5164981 h 5164981"/>
              <a:gd name="connsiteX1" fmla="*/ 0 w 5652116"/>
              <a:gd name="connsiteY1" fmla="*/ 1891 h 5164981"/>
              <a:gd name="connsiteX2" fmla="*/ 5652116 w 5652116"/>
              <a:gd name="connsiteY2" fmla="*/ 0 h 5164981"/>
              <a:gd name="connsiteX3" fmla="*/ 5645976 w 5652116"/>
              <a:gd name="connsiteY3" fmla="*/ 5161969 h 5164981"/>
              <a:gd name="connsiteX4" fmla="*/ 2417147 w 5652116"/>
              <a:gd name="connsiteY4" fmla="*/ 5164981 h 5164981"/>
              <a:gd name="connsiteX0" fmla="*/ 2417147 w 5646219"/>
              <a:gd name="connsiteY0" fmla="*/ 5163090 h 5163090"/>
              <a:gd name="connsiteX1" fmla="*/ 0 w 5646219"/>
              <a:gd name="connsiteY1" fmla="*/ 0 h 5163090"/>
              <a:gd name="connsiteX2" fmla="*/ 5638468 w 5646219"/>
              <a:gd name="connsiteY2" fmla="*/ 11757 h 5163090"/>
              <a:gd name="connsiteX3" fmla="*/ 5645976 w 5646219"/>
              <a:gd name="connsiteY3" fmla="*/ 5160078 h 5163090"/>
              <a:gd name="connsiteX4" fmla="*/ 2417147 w 5646219"/>
              <a:gd name="connsiteY4" fmla="*/ 5163090 h 5163090"/>
              <a:gd name="connsiteX0" fmla="*/ 2417147 w 5646219"/>
              <a:gd name="connsiteY0" fmla="*/ 5164981 h 5164981"/>
              <a:gd name="connsiteX1" fmla="*/ 0 w 5646219"/>
              <a:gd name="connsiteY1" fmla="*/ 1891 h 5164981"/>
              <a:gd name="connsiteX2" fmla="*/ 5638468 w 5646219"/>
              <a:gd name="connsiteY2" fmla="*/ 0 h 5164981"/>
              <a:gd name="connsiteX3" fmla="*/ 5645976 w 5646219"/>
              <a:gd name="connsiteY3" fmla="*/ 5161969 h 5164981"/>
              <a:gd name="connsiteX4" fmla="*/ 2417147 w 5646219"/>
              <a:gd name="connsiteY4" fmla="*/ 5164981 h 5164981"/>
              <a:gd name="connsiteX0" fmla="*/ 2417147 w 5641803"/>
              <a:gd name="connsiteY0" fmla="*/ 5164981 h 5164981"/>
              <a:gd name="connsiteX1" fmla="*/ 0 w 5641803"/>
              <a:gd name="connsiteY1" fmla="*/ 1891 h 5164981"/>
              <a:gd name="connsiteX2" fmla="*/ 5638468 w 5641803"/>
              <a:gd name="connsiteY2" fmla="*/ 0 h 5164981"/>
              <a:gd name="connsiteX3" fmla="*/ 5641426 w 5641803"/>
              <a:gd name="connsiteY3" fmla="*/ 5161969 h 5164981"/>
              <a:gd name="connsiteX4" fmla="*/ 2417147 w 5641803"/>
              <a:gd name="connsiteY4" fmla="*/ 5164981 h 5164981"/>
              <a:gd name="connsiteX0" fmla="*/ 2417147 w 5643017"/>
              <a:gd name="connsiteY0" fmla="*/ 5174079 h 5174079"/>
              <a:gd name="connsiteX1" fmla="*/ 0 w 5643017"/>
              <a:gd name="connsiteY1" fmla="*/ 10989 h 5174079"/>
              <a:gd name="connsiteX2" fmla="*/ 5643017 w 5643017"/>
              <a:gd name="connsiteY2" fmla="*/ 0 h 5174079"/>
              <a:gd name="connsiteX3" fmla="*/ 5641426 w 5643017"/>
              <a:gd name="connsiteY3" fmla="*/ 5171067 h 5174079"/>
              <a:gd name="connsiteX4" fmla="*/ 2417147 w 5643017"/>
              <a:gd name="connsiteY4" fmla="*/ 5174079 h 5174079"/>
              <a:gd name="connsiteX0" fmla="*/ 2417147 w 5643017"/>
              <a:gd name="connsiteY0" fmla="*/ 5174079 h 5174079"/>
              <a:gd name="connsiteX1" fmla="*/ 0 w 5643017"/>
              <a:gd name="connsiteY1" fmla="*/ 4609 h 5174079"/>
              <a:gd name="connsiteX2" fmla="*/ 5643017 w 5643017"/>
              <a:gd name="connsiteY2" fmla="*/ 0 h 5174079"/>
              <a:gd name="connsiteX3" fmla="*/ 5641426 w 5643017"/>
              <a:gd name="connsiteY3" fmla="*/ 5171067 h 5174079"/>
              <a:gd name="connsiteX4" fmla="*/ 2417147 w 5643017"/>
              <a:gd name="connsiteY4" fmla="*/ 5174079 h 5174079"/>
              <a:gd name="connsiteX0" fmla="*/ 2417147 w 5654316"/>
              <a:gd name="connsiteY0" fmla="*/ 5174079 h 5177448"/>
              <a:gd name="connsiteX1" fmla="*/ 0 w 5654316"/>
              <a:gd name="connsiteY1" fmla="*/ 4609 h 5177448"/>
              <a:gd name="connsiteX2" fmla="*/ 5643017 w 5654316"/>
              <a:gd name="connsiteY2" fmla="*/ 0 h 5177448"/>
              <a:gd name="connsiteX3" fmla="*/ 5654126 w 5654316"/>
              <a:gd name="connsiteY3" fmla="*/ 5177448 h 5177448"/>
              <a:gd name="connsiteX4" fmla="*/ 2417147 w 5654316"/>
              <a:gd name="connsiteY4" fmla="*/ 5174079 h 5177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54316" h="5177448">
                <a:moveTo>
                  <a:pt x="2417147" y="5174079"/>
                </a:moveTo>
                <a:lnTo>
                  <a:pt x="0" y="4609"/>
                </a:lnTo>
                <a:lnTo>
                  <a:pt x="5643017" y="0"/>
                </a:lnTo>
                <a:cubicBezTo>
                  <a:pt x="5640970" y="1720656"/>
                  <a:pt x="5656173" y="3456792"/>
                  <a:pt x="5654126" y="5177448"/>
                </a:cubicBezTo>
                <a:lnTo>
                  <a:pt x="2417147" y="517407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4pPr>
              <a:defRPr>
                <a:ln>
                  <a:noFill/>
                </a:ln>
                <a:noFill/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1"/>
          </p:nvPr>
        </p:nvSpPr>
        <p:spPr bwMode="auto">
          <a:xfrm flipH="1">
            <a:off x="-14439" y="-4153"/>
            <a:ext cx="4711557" cy="5154092"/>
          </a:xfrm>
          <a:custGeom>
            <a:avLst/>
            <a:gdLst>
              <a:gd name="connsiteX0" fmla="*/ 0 w 1466850"/>
              <a:gd name="connsiteY0" fmla="*/ 1608226 h 1608226"/>
              <a:gd name="connsiteX1" fmla="*/ 366713 w 1466850"/>
              <a:gd name="connsiteY1" fmla="*/ 0 h 1608226"/>
              <a:gd name="connsiteX2" fmla="*/ 1466850 w 1466850"/>
              <a:gd name="connsiteY2" fmla="*/ 0 h 1608226"/>
              <a:gd name="connsiteX3" fmla="*/ 1100138 w 1466850"/>
              <a:gd name="connsiteY3" fmla="*/ 1608226 h 1608226"/>
              <a:gd name="connsiteX4" fmla="*/ 0 w 1466850"/>
              <a:gd name="connsiteY4" fmla="*/ 1608226 h 1608226"/>
              <a:gd name="connsiteX0" fmla="*/ 0 w 2304312"/>
              <a:gd name="connsiteY0" fmla="*/ 1608226 h 1614665"/>
              <a:gd name="connsiteX1" fmla="*/ 366713 w 2304312"/>
              <a:gd name="connsiteY1" fmla="*/ 0 h 1614665"/>
              <a:gd name="connsiteX2" fmla="*/ 1466850 w 2304312"/>
              <a:gd name="connsiteY2" fmla="*/ 0 h 1614665"/>
              <a:gd name="connsiteX3" fmla="*/ 2304312 w 2304312"/>
              <a:gd name="connsiteY3" fmla="*/ 1614665 h 1614665"/>
              <a:gd name="connsiteX4" fmla="*/ 0 w 2304312"/>
              <a:gd name="connsiteY4" fmla="*/ 1608226 h 1614665"/>
              <a:gd name="connsiteX0" fmla="*/ 0 w 4725205"/>
              <a:gd name="connsiteY0" fmla="*/ 5162795 h 5169234"/>
              <a:gd name="connsiteX1" fmla="*/ 366713 w 4725205"/>
              <a:gd name="connsiteY1" fmla="*/ 3554569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5205"/>
              <a:gd name="connsiteY0" fmla="*/ 5162795 h 5169234"/>
              <a:gd name="connsiteX1" fmla="*/ 2369378 w 4725205"/>
              <a:gd name="connsiteY1" fmla="*/ 19319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5205"/>
              <a:gd name="connsiteY0" fmla="*/ 5162795 h 5169234"/>
              <a:gd name="connsiteX1" fmla="*/ 2382257 w 4725205"/>
              <a:gd name="connsiteY1" fmla="*/ 1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0656"/>
              <a:gd name="connsiteY0" fmla="*/ 5176443 h 5176443"/>
              <a:gd name="connsiteX1" fmla="*/ 2377708 w 4720656"/>
              <a:gd name="connsiteY1" fmla="*/ 1 h 5176443"/>
              <a:gd name="connsiteX2" fmla="*/ 4720656 w 4720656"/>
              <a:gd name="connsiteY2" fmla="*/ 0 h 5176443"/>
              <a:gd name="connsiteX3" fmla="*/ 2299763 w 4720656"/>
              <a:gd name="connsiteY3" fmla="*/ 5169234 h 5176443"/>
              <a:gd name="connsiteX4" fmla="*/ 0 w 4720656"/>
              <a:gd name="connsiteY4" fmla="*/ 5176443 h 5176443"/>
              <a:gd name="connsiteX0" fmla="*/ 0 w 4720656"/>
              <a:gd name="connsiteY0" fmla="*/ 5176443 h 5176443"/>
              <a:gd name="connsiteX1" fmla="*/ 2377708 w 4720656"/>
              <a:gd name="connsiteY1" fmla="*/ 1 h 5176443"/>
              <a:gd name="connsiteX2" fmla="*/ 4720656 w 4720656"/>
              <a:gd name="connsiteY2" fmla="*/ 0 h 5176443"/>
              <a:gd name="connsiteX3" fmla="*/ 2299763 w 4720656"/>
              <a:gd name="connsiteY3" fmla="*/ 5169234 h 5176443"/>
              <a:gd name="connsiteX4" fmla="*/ 0 w 4720656"/>
              <a:gd name="connsiteY4" fmla="*/ 5176443 h 5176443"/>
              <a:gd name="connsiteX0" fmla="*/ 0 w 4711557"/>
              <a:gd name="connsiteY0" fmla="*/ 5167345 h 5169234"/>
              <a:gd name="connsiteX1" fmla="*/ 2368609 w 4711557"/>
              <a:gd name="connsiteY1" fmla="*/ 1 h 5169234"/>
              <a:gd name="connsiteX2" fmla="*/ 4711557 w 4711557"/>
              <a:gd name="connsiteY2" fmla="*/ 0 h 5169234"/>
              <a:gd name="connsiteX3" fmla="*/ 2290664 w 4711557"/>
              <a:gd name="connsiteY3" fmla="*/ 5169234 h 5169234"/>
              <a:gd name="connsiteX4" fmla="*/ 0 w 4711557"/>
              <a:gd name="connsiteY4" fmla="*/ 5167345 h 5169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11557" h="5169234">
                <a:moveTo>
                  <a:pt x="0" y="5167345"/>
                </a:moveTo>
                <a:lnTo>
                  <a:pt x="2368609" y="1"/>
                </a:lnTo>
                <a:lnTo>
                  <a:pt x="4711557" y="0"/>
                </a:lnTo>
                <a:lnTo>
                  <a:pt x="2290664" y="5169234"/>
                </a:lnTo>
                <a:lnTo>
                  <a:pt x="0" y="5167345"/>
                </a:lnTo>
                <a:close/>
              </a:path>
            </a:pathLst>
          </a:custGeom>
          <a:solidFill>
            <a:srgbClr val="FF5451">
              <a:alpha val="5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4pPr>
              <a:defRPr>
                <a:ln>
                  <a:noFill/>
                </a:ln>
                <a:noFill/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71878" y="1066801"/>
            <a:ext cx="3562911" cy="350998"/>
          </a:xfrm>
        </p:spPr>
        <p:txBody>
          <a:bodyPr anchor="b"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Bildplatzhalter"/>
          <p:cNvSpPr>
            <a:spLocks noGrp="1"/>
          </p:cNvSpPr>
          <p:nvPr>
            <p:ph type="pic" sz="quarter" idx="10"/>
          </p:nvPr>
        </p:nvSpPr>
        <p:spPr bwMode="auto">
          <a:xfrm>
            <a:off x="2711450" y="0"/>
            <a:ext cx="6432551" cy="5149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800" baseline="0"/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1878" y="1447164"/>
            <a:ext cx="3562911" cy="2201545"/>
          </a:xfrm>
        </p:spPr>
        <p:txBody>
          <a:bodyPr anchor="t"/>
          <a:lstStyle>
            <a:lvl1pPr algn="l">
              <a:defRPr sz="2800" b="1" cap="all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48712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folie ohne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9300" y="0"/>
            <a:ext cx="33147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57588" y="2078847"/>
            <a:ext cx="6400800" cy="1487313"/>
          </a:xfrm>
          <a:prstGeom prst="rect">
            <a:avLst/>
          </a:prstGeom>
        </p:spPr>
        <p:txBody>
          <a:bodyPr anchor="t"/>
          <a:lstStyle>
            <a:lvl1pPr>
              <a:defRPr sz="2800">
                <a:solidFill>
                  <a:srgbClr val="262A3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57587" y="1740092"/>
            <a:ext cx="6400800" cy="3387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rgbClr val="262A3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cxnSp>
        <p:nvCxnSpPr>
          <p:cNvPr id="9" name="Gerade Verbindung 10"/>
          <p:cNvCxnSpPr/>
          <p:nvPr userDrawn="1"/>
        </p:nvCxnSpPr>
        <p:spPr>
          <a:xfrm>
            <a:off x="457200" y="4713670"/>
            <a:ext cx="5731459" cy="0"/>
          </a:xfrm>
          <a:prstGeom prst="line">
            <a:avLst/>
          </a:prstGeom>
          <a:ln w="3175" cmpd="sng">
            <a:solidFill>
              <a:srgbClr val="D841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769366"/>
            <a:ext cx="547323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106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(formatfülle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11"/>
          <p:cNvSpPr>
            <a:spLocks noGrp="1"/>
          </p:cNvSpPr>
          <p:nvPr>
            <p:ph type="pic" sz="quarter" idx="15"/>
          </p:nvPr>
        </p:nvSpPr>
        <p:spPr>
          <a:xfrm>
            <a:off x="8468" y="8468"/>
            <a:ext cx="9135532" cy="5135032"/>
          </a:xfrm>
        </p:spPr>
        <p:txBody>
          <a:bodyPr rtlCol="0">
            <a:normAutofit/>
          </a:bodyPr>
          <a:lstStyle/>
          <a:p>
            <a:pPr lvl="0"/>
            <a:r>
              <a:rPr lang="en-US" noProof="0"/>
              <a:t>Click icon to add picture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103798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len Dank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" y="5093"/>
            <a:ext cx="3428998" cy="1442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Bild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8628" y="0"/>
            <a:ext cx="3524250" cy="5157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65495" y="2078847"/>
            <a:ext cx="7984797" cy="562753"/>
          </a:xfrm>
        </p:spPr>
        <p:txBody>
          <a:bodyPr anchor="t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18" name="Inhaltsplatzhalter 3"/>
          <p:cNvSpPr>
            <a:spLocks noGrp="1"/>
          </p:cNvSpPr>
          <p:nvPr>
            <p:ph sz="half" idx="2"/>
          </p:nvPr>
        </p:nvSpPr>
        <p:spPr>
          <a:xfrm>
            <a:off x="365495" y="2834640"/>
            <a:ext cx="4672172" cy="1847427"/>
          </a:xfrm>
        </p:spPr>
        <p:txBody>
          <a:bodyPr>
            <a:noAutofit/>
          </a:bodyPr>
          <a:lstStyle>
            <a:lvl1pPr marL="0" indent="0">
              <a:buNone/>
              <a:defRPr sz="1100" baseline="0">
                <a:solidFill>
                  <a:schemeClr val="tx1"/>
                </a:solidFill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64649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mit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304799"/>
            <a:ext cx="8234363" cy="758825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17134"/>
            <a:ext cx="8234363" cy="2985558"/>
          </a:xfrm>
          <a:prstGeom prst="rect">
            <a:avLst/>
          </a:prstGeom>
        </p:spPr>
        <p:txBody>
          <a:bodyPr>
            <a:noAutofit/>
          </a:bodyPr>
          <a:lstStyle>
            <a:lvl1pPr marL="269875" indent="-269875">
              <a:buClr>
                <a:srgbClr val="D8413E"/>
              </a:buClr>
              <a:buFont typeface="Symbol" charset="2"/>
              <a:buChar char="-"/>
              <a:defRPr sz="1800">
                <a:solidFill>
                  <a:schemeClr val="tx1"/>
                </a:solidFill>
              </a:defRPr>
            </a:lvl1pPr>
            <a:lvl2pPr marL="714375" indent="-257175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2pPr>
            <a:lvl3pPr marL="11604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3pPr>
            <a:lvl4pPr marL="16176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4pPr>
            <a:lvl5pPr marL="2063750" indent="-234950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457200" y="1125940"/>
            <a:ext cx="8234363" cy="37774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1400" cap="all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4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248790C2-FB8D-4AD1-BFB1-8D82BB9A4283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‹#›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90436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316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ohne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304799"/>
            <a:ext cx="8234363" cy="758825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223492"/>
            <a:ext cx="8234363" cy="3379199"/>
          </a:xfrm>
          <a:prstGeom prst="rect">
            <a:avLst/>
          </a:prstGeom>
        </p:spPr>
        <p:txBody>
          <a:bodyPr>
            <a:noAutofit/>
          </a:bodyPr>
          <a:lstStyle>
            <a:lvl1pPr marL="269875" indent="-269875">
              <a:buClr>
                <a:srgbClr val="D8413E"/>
              </a:buClr>
              <a:buFont typeface="Symbol" charset="2"/>
              <a:buChar char="-"/>
              <a:defRPr sz="1800">
                <a:solidFill>
                  <a:schemeClr val="tx1"/>
                </a:solidFill>
              </a:defRPr>
            </a:lvl1pPr>
            <a:lvl2pPr marL="714375" indent="-257175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2pPr>
            <a:lvl3pPr marL="11604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3pPr>
            <a:lvl4pPr marL="16176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4pPr>
            <a:lvl5pPr marL="2063750" indent="-234950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AFCF9BA9-AB08-46E1-A235-3AC71B2FE2C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‹#›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2329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- 2 Blöck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304797"/>
            <a:ext cx="8229600" cy="75882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17133"/>
            <a:ext cx="3952240" cy="2977092"/>
          </a:xfrm>
          <a:prstGeom prst="rect">
            <a:avLst/>
          </a:prstGeom>
        </p:spPr>
        <p:txBody>
          <a:bodyPr>
            <a:noAutofit/>
          </a:bodyPr>
          <a:lstStyle>
            <a:lvl1pPr marL="269875" indent="-269875">
              <a:buClr>
                <a:srgbClr val="D8413E"/>
              </a:buClr>
              <a:buFont typeface="Symbol" charset="2"/>
              <a:buChar char="-"/>
              <a:defRPr sz="1800">
                <a:solidFill>
                  <a:schemeClr val="tx1"/>
                </a:solidFill>
              </a:defRPr>
            </a:lvl1pPr>
            <a:lvl2pPr marL="714375" indent="-257175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2pPr>
            <a:lvl3pPr marL="11604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3pPr>
            <a:lvl4pPr marL="16176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457200" y="1139588"/>
            <a:ext cx="8229600" cy="364092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1400" cap="all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9" name="Inhaltsplatzhalter 2"/>
          <p:cNvSpPr>
            <a:spLocks noGrp="1"/>
          </p:cNvSpPr>
          <p:nvPr>
            <p:ph idx="14"/>
          </p:nvPr>
        </p:nvSpPr>
        <p:spPr>
          <a:xfrm>
            <a:off x="4724400" y="1617133"/>
            <a:ext cx="3962400" cy="2977092"/>
          </a:xfrm>
          <a:prstGeom prst="rect">
            <a:avLst/>
          </a:prstGeom>
        </p:spPr>
        <p:txBody>
          <a:bodyPr>
            <a:noAutofit/>
          </a:bodyPr>
          <a:lstStyle>
            <a:lvl1pPr marL="269875" indent="-269875">
              <a:buClr>
                <a:srgbClr val="D8413E"/>
              </a:buClr>
              <a:buFont typeface="Symbol" charset="2"/>
              <a:buChar char="-"/>
              <a:defRPr sz="1800">
                <a:solidFill>
                  <a:schemeClr val="tx1"/>
                </a:solidFill>
              </a:defRPr>
            </a:lvl1pPr>
            <a:lvl2pPr marL="714375" indent="-257175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2pPr>
            <a:lvl3pPr marL="11604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3pPr>
            <a:lvl4pPr marL="16176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E6F2A070-8A77-484A-BFE7-6B1E5C215647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‹#›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7953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Bildunt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304797"/>
            <a:ext cx="8229600" cy="75882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12" name="Bildplatzhalter 11"/>
          <p:cNvSpPr>
            <a:spLocks noGrp="1"/>
          </p:cNvSpPr>
          <p:nvPr>
            <p:ph type="pic" sz="quarter" idx="16"/>
          </p:nvPr>
        </p:nvSpPr>
        <p:spPr>
          <a:xfrm>
            <a:off x="457200" y="1243691"/>
            <a:ext cx="8229600" cy="3057375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>
                <a:solidFill>
                  <a:srgbClr val="262A31"/>
                </a:solidFill>
              </a:defRPr>
            </a:lvl1pPr>
          </a:lstStyle>
          <a:p>
            <a:pPr lvl="0"/>
            <a:r>
              <a:rPr lang="de-DE" noProof="0" dirty="0"/>
              <a:t>Bild durch Klicken auf Symbol hinzufügen</a:t>
            </a:r>
          </a:p>
        </p:txBody>
      </p:sp>
      <p:sp>
        <p:nvSpPr>
          <p:cNvPr id="14" name="Inhaltsplatzhalter 2"/>
          <p:cNvSpPr>
            <a:spLocks noGrp="1"/>
          </p:cNvSpPr>
          <p:nvPr>
            <p:ph idx="1"/>
          </p:nvPr>
        </p:nvSpPr>
        <p:spPr>
          <a:xfrm>
            <a:off x="457200" y="4368811"/>
            <a:ext cx="8229600" cy="3301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43582BE0-97CE-412F-80F1-16DC6BED178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‹#›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2544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457200" y="304797"/>
            <a:ext cx="8229600" cy="75882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9" name="Inhaltsplatzhalter 2"/>
          <p:cNvSpPr>
            <a:spLocks noGrp="1"/>
          </p:cNvSpPr>
          <p:nvPr>
            <p:ph idx="1"/>
          </p:nvPr>
        </p:nvSpPr>
        <p:spPr>
          <a:xfrm>
            <a:off x="457200" y="4368811"/>
            <a:ext cx="8229600" cy="3301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1" name="Tabellenplatzhalter 10"/>
          <p:cNvSpPr>
            <a:spLocks noGrp="1"/>
          </p:cNvSpPr>
          <p:nvPr>
            <p:ph type="tbl" sz="quarter" idx="16"/>
          </p:nvPr>
        </p:nvSpPr>
        <p:spPr>
          <a:xfrm>
            <a:off x="457200" y="1597677"/>
            <a:ext cx="8234363" cy="269293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de-DE" noProof="0"/>
              <a:t>Tabelle durch Klicken auf Symbol hinzufügen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457200" y="1141828"/>
            <a:ext cx="8229600" cy="361852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1400" cap="all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A0321171-B06E-4659-9CF5-7D6E520FDC1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‹#›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18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304797"/>
            <a:ext cx="8229600" cy="75882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4368811"/>
            <a:ext cx="8229600" cy="3301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8" name="Diagrammplatzhalter 7"/>
          <p:cNvSpPr>
            <a:spLocks noGrp="1"/>
          </p:cNvSpPr>
          <p:nvPr>
            <p:ph type="chart" sz="quarter" idx="16"/>
          </p:nvPr>
        </p:nvSpPr>
        <p:spPr>
          <a:xfrm>
            <a:off x="457200" y="1229028"/>
            <a:ext cx="8229600" cy="3061228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r>
              <a:rPr lang="de-DE" noProof="0"/>
              <a:t>Diagramm durch Klicken auf Symbol hinzufügen</a:t>
            </a:r>
          </a:p>
        </p:txBody>
      </p:sp>
      <p:cxnSp>
        <p:nvCxnSpPr>
          <p:cNvPr id="16" name="Gerade Verbindung 10"/>
          <p:cNvCxnSpPr/>
          <p:nvPr userDrawn="1"/>
        </p:nvCxnSpPr>
        <p:spPr>
          <a:xfrm>
            <a:off x="457200" y="4713670"/>
            <a:ext cx="8229600" cy="0"/>
          </a:xfrm>
          <a:prstGeom prst="line">
            <a:avLst/>
          </a:prstGeom>
          <a:ln w="3175" cmpd="sng">
            <a:solidFill>
              <a:srgbClr val="D841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D98C2DD5-50CB-445D-B765-8AD2D4C5531F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‹#›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3045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Dia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304797"/>
            <a:ext cx="8229600" cy="75882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4368811"/>
            <a:ext cx="3962400" cy="3301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8" name="Diagrammplatzhalter 7"/>
          <p:cNvSpPr>
            <a:spLocks noGrp="1"/>
          </p:cNvSpPr>
          <p:nvPr>
            <p:ph type="chart" sz="quarter" idx="16"/>
          </p:nvPr>
        </p:nvSpPr>
        <p:spPr>
          <a:xfrm>
            <a:off x="457200" y="1181092"/>
            <a:ext cx="3962400" cy="3086108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r>
              <a:rPr lang="de-DE" noProof="0"/>
              <a:t>Diagramm durch Klicken auf Symbol hinzufügen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20"/>
          </p:nvPr>
        </p:nvSpPr>
        <p:spPr>
          <a:xfrm>
            <a:off x="4714875" y="4368811"/>
            <a:ext cx="3962400" cy="3301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4" name="Diagrammplatzhalter 7"/>
          <p:cNvSpPr>
            <a:spLocks noGrp="1"/>
          </p:cNvSpPr>
          <p:nvPr>
            <p:ph type="chart" sz="quarter" idx="21"/>
          </p:nvPr>
        </p:nvSpPr>
        <p:spPr>
          <a:xfrm>
            <a:off x="4714875" y="1181092"/>
            <a:ext cx="3962400" cy="3086108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sz="1200"/>
            </a:lvl1pPr>
          </a:lstStyle>
          <a:p>
            <a:pPr lvl="0"/>
            <a:r>
              <a:rPr lang="de-DE" noProof="0"/>
              <a:t>Diagramm durch Klicken auf Symbol hinzufügen</a:t>
            </a:r>
            <a:endParaRPr lang="de-DE" noProof="0" dirty="0"/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64035955-D4DF-4360-912A-517416A0AD74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‹#›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91593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Text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"/>
          <p:cNvSpPr>
            <a:spLocks noGrp="1"/>
          </p:cNvSpPr>
          <p:nvPr>
            <p:ph type="title"/>
          </p:nvPr>
        </p:nvSpPr>
        <p:spPr>
          <a:xfrm>
            <a:off x="457200" y="372533"/>
            <a:ext cx="2692400" cy="999067"/>
          </a:xfrm>
          <a:prstGeom prst="rect">
            <a:avLst/>
          </a:prstGeom>
        </p:spPr>
        <p:txBody>
          <a:bodyPr anchor="b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14" name="Inhaltsplatzhalter 2"/>
          <p:cNvSpPr>
            <a:spLocks noGrp="1"/>
          </p:cNvSpPr>
          <p:nvPr>
            <p:ph idx="1"/>
          </p:nvPr>
        </p:nvSpPr>
        <p:spPr>
          <a:xfrm>
            <a:off x="457200" y="1503680"/>
            <a:ext cx="2692400" cy="3195327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buClr>
                <a:srgbClr val="D8413E"/>
              </a:buClr>
              <a:buFont typeface="Symbol" charset="2"/>
              <a:buChar char="-"/>
              <a:defRPr sz="1800">
                <a:solidFill>
                  <a:schemeClr val="tx1"/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400">
                <a:solidFill>
                  <a:schemeClr val="tx1"/>
                </a:solidFill>
              </a:defRPr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400">
                <a:solidFill>
                  <a:schemeClr val="tx1"/>
                </a:solidFill>
              </a:defRPr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9" name="Bildplatzhalter 18"/>
          <p:cNvSpPr>
            <a:spLocks noGrp="1"/>
          </p:cNvSpPr>
          <p:nvPr>
            <p:ph type="pic" sz="quarter" idx="16"/>
          </p:nvPr>
        </p:nvSpPr>
        <p:spPr>
          <a:xfrm>
            <a:off x="3352800" y="762000"/>
            <a:ext cx="5791200" cy="348934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r>
              <a:rPr lang="de-DE" noProof="0"/>
              <a:t>Bild durch Klicken auf Symbol hinzufügen</a:t>
            </a:r>
          </a:p>
        </p:txBody>
      </p:sp>
      <p:sp>
        <p:nvSpPr>
          <p:cNvPr id="10" name="Inhaltsplatzhalter 2"/>
          <p:cNvSpPr>
            <a:spLocks noGrp="1"/>
          </p:cNvSpPr>
          <p:nvPr>
            <p:ph idx="19"/>
          </p:nvPr>
        </p:nvSpPr>
        <p:spPr>
          <a:xfrm>
            <a:off x="3352800" y="4368811"/>
            <a:ext cx="5334000" cy="330196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9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01A9B2D6-5EFE-4937-AE57-083B7F8CA155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‹#›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1180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10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57200" y="1063625"/>
            <a:ext cx="8229600" cy="353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SUBHEADLINE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84" r:id="rId2"/>
    <p:sldLayoutId id="2147483885" r:id="rId3"/>
    <p:sldLayoutId id="2147483870" r:id="rId4"/>
    <p:sldLayoutId id="2147483877" r:id="rId5"/>
    <p:sldLayoutId id="2147483879" r:id="rId6"/>
  </p:sldLayoutIdLst>
  <p:hf hdr="0" ftr="0" dt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000" b="1" kern="1200" cap="all">
          <a:solidFill>
            <a:srgbClr val="262A31"/>
          </a:solidFill>
          <a:latin typeface="Arial"/>
          <a:ea typeface="MS PGothic" panose="020B0600070205080204" pitchFamily="34" charset="-128"/>
          <a:cs typeface="Arial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Symbol" panose="05050102010706020507" pitchFamily="18" charset="2"/>
        <a:defRPr sz="1200" kern="1200">
          <a:solidFill>
            <a:srgbClr val="262A31"/>
          </a:solidFill>
          <a:latin typeface="Arial"/>
          <a:ea typeface="MS PGothic" panose="020B0600070205080204" pitchFamily="34" charset="-128"/>
          <a:cs typeface="Arial"/>
        </a:defRPr>
      </a:lvl1pPr>
      <a:lvl2pPr marL="4572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2pPr>
      <a:lvl3pPr marL="9144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3pPr>
      <a:lvl4pPr marL="1371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4pPr>
      <a:lvl5pPr marL="18288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 Verbindung 9"/>
          <p:cNvCxnSpPr/>
          <p:nvPr userDrawn="1"/>
        </p:nvCxnSpPr>
        <p:spPr>
          <a:xfrm>
            <a:off x="0" y="155575"/>
            <a:ext cx="457200" cy="0"/>
          </a:xfrm>
          <a:prstGeom prst="line">
            <a:avLst/>
          </a:prstGeom>
          <a:ln w="3175" cmpd="sng">
            <a:solidFill>
              <a:srgbClr val="262A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769366"/>
            <a:ext cx="547323" cy="324000"/>
          </a:xfrm>
          <a:prstGeom prst="rect">
            <a:avLst/>
          </a:prstGeom>
        </p:spPr>
      </p:pic>
      <p:sp>
        <p:nvSpPr>
          <p:cNvPr id="8" name="Textfeld 7"/>
          <p:cNvSpPr txBox="1"/>
          <p:nvPr userDrawn="1"/>
        </p:nvSpPr>
        <p:spPr>
          <a:xfrm>
            <a:off x="457200" y="22671"/>
            <a:ext cx="7001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Market Efficency of BTC 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| BTC movement prediction</a:t>
            </a:r>
          </a:p>
        </p:txBody>
      </p:sp>
      <p:cxnSp>
        <p:nvCxnSpPr>
          <p:cNvPr id="9" name="Gerade Verbindung 10"/>
          <p:cNvCxnSpPr/>
          <p:nvPr userDrawn="1"/>
        </p:nvCxnSpPr>
        <p:spPr>
          <a:xfrm>
            <a:off x="457200" y="4713670"/>
            <a:ext cx="8229600" cy="0"/>
          </a:xfrm>
          <a:prstGeom prst="line">
            <a:avLst/>
          </a:prstGeom>
          <a:ln w="3175" cmpd="sng">
            <a:solidFill>
              <a:srgbClr val="D841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2803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82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8" r:id="rId8"/>
  </p:sldLayoutIdLst>
  <p:hf hdr="0" ftr="0" dt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000" b="1" kern="1200" cap="all">
          <a:solidFill>
            <a:srgbClr val="262A31"/>
          </a:solidFill>
          <a:latin typeface="Arial"/>
          <a:ea typeface="MS PGothic" panose="020B0600070205080204" pitchFamily="34" charset="-128"/>
          <a:cs typeface="Arial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Symbol" panose="05050102010706020507" pitchFamily="18" charset="2"/>
        <a:defRPr sz="1200" kern="1200">
          <a:solidFill>
            <a:srgbClr val="262A31"/>
          </a:solidFill>
          <a:latin typeface="Arial"/>
          <a:ea typeface="MS PGothic" panose="020B0600070205080204" pitchFamily="34" charset="-128"/>
          <a:cs typeface="Arial"/>
        </a:defRPr>
      </a:lvl1pPr>
      <a:lvl2pPr marL="4572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2pPr>
      <a:lvl3pPr marL="9144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3pPr>
      <a:lvl4pPr marL="1371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4pPr>
      <a:lvl5pPr marL="18288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el 1"/>
          <p:cNvSpPr>
            <a:spLocks noGrp="1"/>
          </p:cNvSpPr>
          <p:nvPr>
            <p:ph type="ctrTitle"/>
          </p:nvPr>
        </p:nvSpPr>
        <p:spPr bwMode="auto">
          <a:xfrm>
            <a:off x="295275" y="2079625"/>
            <a:ext cx="8093075" cy="1485900"/>
          </a:xfrm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de-DE" altLang="de-DE" sz="2800" cap="none" dirty="0">
                <a:latin typeface="Arial" panose="020B0604020202020204" pitchFamily="34" charset="0"/>
                <a:cs typeface="Arial" panose="020B0604020202020204" pitchFamily="34" charset="0"/>
              </a:rPr>
              <a:t>Testing Market Efficiency of BTC using ML</a:t>
            </a:r>
          </a:p>
        </p:txBody>
      </p:sp>
      <p:sp>
        <p:nvSpPr>
          <p:cNvPr id="17411" name="Untertitel 2"/>
          <p:cNvSpPr>
            <a:spLocks noGrp="1"/>
          </p:cNvSpPr>
          <p:nvPr>
            <p:ph type="subTitle" idx="1"/>
          </p:nvPr>
        </p:nvSpPr>
        <p:spPr>
          <a:xfrm>
            <a:off x="295275" y="1606550"/>
            <a:ext cx="6400800" cy="473075"/>
          </a:xfrm>
        </p:spPr>
        <p:txBody>
          <a:bodyPr/>
          <a:lstStyle/>
          <a:p>
            <a:pPr eaLnBrk="1" hangingPunct="1"/>
            <a:endParaRPr lang="de-DE" alt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12" name="Bildplatzhalter 1"/>
          <p:cNvSpPr>
            <a:spLocks noGrp="1" noTextEdit="1"/>
          </p:cNvSpPr>
          <p:nvPr>
            <p:ph type="pic" sz="quarter" idx="11"/>
          </p:nvPr>
        </p:nvSpPr>
        <p:spPr>
          <a:xfrm>
            <a:off x="295275" y="4438650"/>
            <a:ext cx="2044700" cy="517525"/>
          </a:xfrm>
        </p:spPr>
        <p:txBody>
          <a:bodyPr/>
          <a:lstStyle/>
          <a:p>
            <a:endParaRPr lang="en-DE"/>
          </a:p>
        </p:txBody>
      </p:sp>
      <p:sp>
        <p:nvSpPr>
          <p:cNvPr id="17413" name="Bildplatzhalter 1"/>
          <p:cNvSpPr>
            <a:spLocks noGrp="1" noTextEdit="1"/>
          </p:cNvSpPr>
          <p:nvPr>
            <p:ph type="pic" sz="quarter" idx="12"/>
          </p:nvPr>
        </p:nvSpPr>
        <p:spPr>
          <a:xfrm>
            <a:off x="2473325" y="4438650"/>
            <a:ext cx="2044700" cy="517525"/>
          </a:xfrm>
        </p:spPr>
        <p:txBody>
          <a:bodyPr/>
          <a:lstStyle/>
          <a:p>
            <a:endParaRPr lang="en-DE"/>
          </a:p>
        </p:txBody>
      </p:sp>
      <p:sp>
        <p:nvSpPr>
          <p:cNvPr id="17414" name="Inhaltsplatzhalter 3"/>
          <p:cNvSpPr>
            <a:spLocks noGrp="1"/>
          </p:cNvSpPr>
          <p:nvPr>
            <p:ph sz="half" idx="4294967295"/>
          </p:nvPr>
        </p:nvSpPr>
        <p:spPr>
          <a:xfrm>
            <a:off x="295275" y="3600450"/>
            <a:ext cx="3744913" cy="517525"/>
          </a:xfrm>
        </p:spPr>
        <p:txBody>
          <a:bodyPr/>
          <a:lstStyle/>
          <a:p>
            <a:pPr marL="0" indent="0" eaLnBrk="1" hangingPunct="1"/>
            <a:r>
              <a:rPr lang="de-DE" altLang="de-DE" sz="1600" dirty="0">
                <a:latin typeface="Arial" panose="020B0604020202020204" pitchFamily="34" charset="0"/>
                <a:cs typeface="Arial" panose="020B0604020202020204" pitchFamily="34" charset="0"/>
              </a:rPr>
              <a:t>Leipzig, 04.12.2025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ABDF911-2B25-D8A4-58D2-49C4ACEA7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en-DE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B5941CA-4DEE-99BC-997A-955103649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Background + EMH  </a:t>
            </a:r>
          </a:p>
          <a:p>
            <a:r>
              <a:rPr lang="en-US" dirty="0"/>
              <a:t>Sentiment analysis </a:t>
            </a:r>
          </a:p>
          <a:p>
            <a:r>
              <a:rPr lang="en-US" dirty="0"/>
              <a:t>Categorizing users</a:t>
            </a:r>
          </a:p>
          <a:p>
            <a:r>
              <a:rPr lang="en-US" dirty="0"/>
              <a:t>Prediction plans</a:t>
            </a:r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614629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99242-B38E-47C9-1770-FA4A4A312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Background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EFE79-DDC3-DDE6-7E2F-4504A11C1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Efficient Market Hypothesis: Essentially, Asset prices reflect all known information about the asset. Therefore, you cannot beat the market.</a:t>
            </a:r>
          </a:p>
          <a:p>
            <a:r>
              <a:rPr lang="en-GB" dirty="0"/>
              <a:t>Bitcoin: not just a cryptocurrency but also as an asset/speculative commodity</a:t>
            </a:r>
          </a:p>
          <a:p>
            <a:r>
              <a:rPr lang="en-GB" dirty="0"/>
              <a:t>It will be weak form efficient if the ML model cannot use past information to predict future returns. </a:t>
            </a:r>
          </a:p>
          <a:p>
            <a:r>
              <a:rPr lang="en-GB" dirty="0"/>
              <a:t>Test if publicly available information and the reaction to that information affects the price and if the Model can predict future returns based on that information. 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05B8CE-9E31-53F6-9E39-B7BDBEB659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FCF9BA9-AB08-46E1-A235-3AC71B2FE2C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3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2353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E8060-F248-51E1-A8E1-433ACEA7A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3AE4F2-77D2-958D-72F7-C9A4A49E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797"/>
            <a:ext cx="8229600" cy="758827"/>
          </a:xfrm>
        </p:spPr>
        <p:txBody>
          <a:bodyPr anchor="b">
            <a:normAutofit/>
          </a:bodyPr>
          <a:lstStyle/>
          <a:p>
            <a:r>
              <a:rPr lang="en-GB" noProof="0" dirty="0"/>
              <a:t>Data Set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9A3CE53-A90A-E2A1-282E-5A14C1E49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3624"/>
            <a:ext cx="4012250" cy="3530601"/>
          </a:xfrm>
        </p:spPr>
        <p:txBody>
          <a:bodyPr>
            <a:normAutofit/>
          </a:bodyPr>
          <a:lstStyle/>
          <a:p>
            <a:r>
              <a:rPr lang="en-GB" noProof="0" dirty="0"/>
              <a:t>Bitcoin Twitter Data</a:t>
            </a:r>
          </a:p>
          <a:p>
            <a:pPr lvl="1"/>
            <a:r>
              <a:rPr lang="en-GB" sz="1800" noProof="0" dirty="0"/>
              <a:t>Bitcoin related tweets</a:t>
            </a:r>
          </a:p>
          <a:p>
            <a:pPr lvl="1"/>
            <a:r>
              <a:rPr lang="en-GB" sz="1800" noProof="0" dirty="0"/>
              <a:t>From 05.02.2021 to 21.08.2021</a:t>
            </a:r>
          </a:p>
          <a:p>
            <a:pPr lvl="1"/>
            <a:r>
              <a:rPr lang="en-GB" sz="1800" noProof="0" dirty="0"/>
              <a:t>1 million Tweets</a:t>
            </a:r>
          </a:p>
          <a:p>
            <a:pPr lvl="1"/>
            <a:r>
              <a:rPr lang="en-GB" sz="1800" dirty="0"/>
              <a:t>200k Users</a:t>
            </a:r>
          </a:p>
          <a:p>
            <a:pPr lvl="1"/>
            <a:endParaRPr lang="en-GB" sz="1800" noProof="0" dirty="0"/>
          </a:p>
          <a:p>
            <a:r>
              <a:rPr lang="en-GB" noProof="0" dirty="0"/>
              <a:t>Bitcoin Historical Data</a:t>
            </a:r>
          </a:p>
          <a:p>
            <a:pPr lvl="1"/>
            <a:r>
              <a:rPr lang="en-GB" sz="1800" noProof="0" dirty="0"/>
              <a:t>1-min interval Bitcoin-Price</a:t>
            </a:r>
          </a:p>
        </p:txBody>
      </p:sp>
      <p:pic>
        <p:nvPicPr>
          <p:cNvPr id="6" name="Picture 5" descr="A graph showing a line of stock&#10;&#10;AI-generated content may be incorrect.">
            <a:extLst>
              <a:ext uri="{FF2B5EF4-FFF2-40B4-BE49-F238E27FC236}">
                <a16:creationId xmlns:a16="http://schemas.microsoft.com/office/drawing/2014/main" id="{2134988E-3419-6D31-DA29-82EBDBCCC4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82" t="10765" r="5981" b="7781"/>
          <a:stretch>
            <a:fillRect/>
          </a:stretch>
        </p:blipFill>
        <p:spPr>
          <a:xfrm>
            <a:off x="3395256" y="1822451"/>
            <a:ext cx="5748744" cy="1876337"/>
          </a:xfrm>
          <a:prstGeom prst="rect">
            <a:avLst/>
          </a:prstGeom>
          <a:noFill/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24D302F-9838-B72E-ACDC-1FB4382341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  <a:defRPr/>
            </a:pPr>
            <a:fld id="{AFCF9BA9-AB08-46E1-A235-3AC71B2FE2C1}" type="slidenum">
              <a:rPr lang="en-GB" sz="1000" noProof="0" smtClean="0">
                <a:solidFill>
                  <a:srgbClr val="D8413E"/>
                </a:solidFill>
              </a:rPr>
              <a:pPr>
                <a:spcAft>
                  <a:spcPts val="600"/>
                </a:spcAft>
                <a:defRPr/>
              </a:pPr>
              <a:t>4</a:t>
            </a:fld>
            <a:endParaRPr lang="en-GB" sz="1000" noProof="0">
              <a:solidFill>
                <a:srgbClr val="D8413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4907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0A87F1B1-08AE-B901-7C42-8F25D067F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797"/>
            <a:ext cx="8229600" cy="758827"/>
          </a:xfrm>
        </p:spPr>
        <p:txBody>
          <a:bodyPr/>
          <a:lstStyle/>
          <a:p>
            <a:r>
              <a:rPr lang="en-US" dirty="0"/>
              <a:t>Sentiment analysis plan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FEE3987-7669-2E83-C179-DD706A2EF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9050"/>
            <a:ext cx="3952240" cy="33051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Details:</a:t>
            </a:r>
          </a:p>
          <a:p>
            <a:r>
              <a:rPr lang="en-US" dirty="0"/>
              <a:t>Models</a:t>
            </a:r>
          </a:p>
          <a:p>
            <a:pPr lvl="1"/>
            <a:r>
              <a:rPr lang="en-US" dirty="0" err="1"/>
              <a:t>Finbert</a:t>
            </a:r>
            <a:r>
              <a:rPr lang="en-US" dirty="0"/>
              <a:t> (old) (free)</a:t>
            </a:r>
          </a:p>
          <a:p>
            <a:pPr lvl="1"/>
            <a:r>
              <a:rPr lang="en-US" dirty="0" err="1"/>
              <a:t>Gpt</a:t>
            </a:r>
            <a:r>
              <a:rPr lang="en-US" dirty="0"/>
              <a:t> 4o</a:t>
            </a:r>
          </a:p>
          <a:p>
            <a:pPr lvl="1"/>
            <a:r>
              <a:rPr lang="en-US" dirty="0" err="1"/>
              <a:t>ModernBert</a:t>
            </a:r>
            <a:r>
              <a:rPr lang="en-US" dirty="0"/>
              <a:t>-embed-large</a:t>
            </a:r>
          </a:p>
          <a:p>
            <a:pPr lvl="1"/>
            <a:r>
              <a:rPr lang="en-US" dirty="0"/>
              <a:t>Multilingual E5 Mistral</a:t>
            </a:r>
          </a:p>
          <a:p>
            <a:pPr lvl="1"/>
            <a:r>
              <a:rPr lang="en-US" dirty="0"/>
              <a:t>Fin-E5</a:t>
            </a:r>
          </a:p>
          <a:p>
            <a:r>
              <a:rPr lang="en-US" dirty="0"/>
              <a:t>Different Strategies with</a:t>
            </a:r>
          </a:p>
          <a:p>
            <a:pPr lvl="1"/>
            <a:r>
              <a:rPr lang="en-US" dirty="0"/>
              <a:t>Price Plan</a:t>
            </a:r>
          </a:p>
          <a:p>
            <a:pPr lvl="1"/>
            <a:r>
              <a:rPr lang="en-US" dirty="0"/>
              <a:t>Sentiment Clustering</a:t>
            </a:r>
          </a:p>
        </p:txBody>
      </p:sp>
      <p:pic>
        <p:nvPicPr>
          <p:cNvPr id="8" name="Bildplatzhalter 7" descr="Ein Bild, das Text, Screenshot, Schrift, Klebezettel enthält.&#10;&#10;KI-generierte Inhalte können fehlerhaft sein.">
            <a:extLst>
              <a:ext uri="{FF2B5EF4-FFF2-40B4-BE49-F238E27FC236}">
                <a16:creationId xmlns:a16="http://schemas.microsoft.com/office/drawing/2014/main" id="{9AFB2BD3-646F-1CBE-1BBC-B69051903850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4843679" y="1289050"/>
            <a:ext cx="3214282" cy="3305175"/>
          </a:xfrm>
          <a:prstGeom prst="rect">
            <a:avLst/>
          </a:prstGeom>
          <a:noFill/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65871E-180C-01C0-F5FD-585E03ACE3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  <a:defRPr/>
            </a:pPr>
            <a:fld id="{01A9B2D6-5EFE-4937-AE57-083B7F8CA155}" type="slidenum">
              <a:rPr lang="de-DE" altLang="de-DE" sz="1000" smtClean="0">
                <a:solidFill>
                  <a:srgbClr val="D8413E"/>
                </a:solidFill>
              </a:rPr>
              <a:pPr>
                <a:spcAft>
                  <a:spcPts val="600"/>
                </a:spcAft>
                <a:defRPr/>
              </a:pPr>
              <a:t>5</a:t>
            </a:fld>
            <a:endParaRPr lang="de-DE" altLang="de-DE" sz="1000">
              <a:solidFill>
                <a:srgbClr val="D8413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7052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Klebezettel, Farbigkeit, Diagramm enthält.&#10;&#10;KI-generierte Inhalte können fehlerhaft sein.">
            <a:extLst>
              <a:ext uri="{FF2B5EF4-FFF2-40B4-BE49-F238E27FC236}">
                <a16:creationId xmlns:a16="http://schemas.microsoft.com/office/drawing/2014/main" id="{255ACED7-46DD-392A-59B2-6FCD2BC44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081" y="2890916"/>
            <a:ext cx="5745482" cy="194259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AA154AD-1518-DA0C-EE85-588512286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Categorizing users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189138D-0B7E-8B56-B8EA-D0F1553AB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Cluster Twitter-users by Bitcoin interest (traders, news, bots, etc.)</a:t>
            </a:r>
          </a:p>
          <a:p>
            <a:r>
              <a:rPr lang="en-US" dirty="0"/>
              <a:t>Find groups whose sentiment correlates with Bitcoin prices</a:t>
            </a:r>
          </a:p>
          <a:p>
            <a:r>
              <a:rPr lang="en-US" dirty="0"/>
              <a:t>Weight sentiments in the prediction based on cluster affiliation</a:t>
            </a:r>
          </a:p>
          <a:p>
            <a:endParaRPr lang="en-US" dirty="0"/>
          </a:p>
          <a:p>
            <a:r>
              <a:rPr lang="en-US" dirty="0"/>
              <a:t>Clustering based on posts and profile descriptions</a:t>
            </a:r>
          </a:p>
          <a:p>
            <a:r>
              <a:rPr lang="en-US" dirty="0"/>
              <a:t>Labeling by ChatGPT</a:t>
            </a:r>
          </a:p>
          <a:p>
            <a:endParaRPr lang="en-GB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0AB6FF3-FB1B-09DD-C2A9-0992F2799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FCF9BA9-AB08-46E1-A235-3AC71B2FE2C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6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5091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A5A116-4C01-4F10-AEEF-6A9FF2ED5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Prediction Plans and Testing BTC Market Efficiency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C1F6BBF-2F1D-442F-B56D-3EB3FDAA1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+mn-lt"/>
                <a:cs typeface="Arial" panose="020B0604020202020204" pitchFamily="34" charset="0"/>
              </a:rPr>
              <a:t>Primary Goal: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+mn-lt"/>
                <a:cs typeface="Arial" panose="020B0604020202020204" pitchFamily="34" charset="0"/>
              </a:rPr>
              <a:t>Evaluate whether Machine Learning (ML) models can predict future BTC returns, potentially contradicting the Efficient Market Hypothesis (EMH).</a:t>
            </a:r>
          </a:p>
          <a:p>
            <a:endParaRPr lang="en-US" dirty="0">
              <a:latin typeface="+mn-lt"/>
              <a:cs typeface="Arial" panose="020B0604020202020204" pitchFamily="34" charset="0"/>
            </a:endParaRPr>
          </a:p>
          <a:p>
            <a:r>
              <a:rPr lang="en-US" dirty="0">
                <a:latin typeface="+mn-lt"/>
                <a:cs typeface="Arial" panose="020B0604020202020204" pitchFamily="34" charset="0"/>
              </a:rPr>
              <a:t>1. Weak Form Test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+mn-lt"/>
                <a:cs typeface="Arial" panose="020B0604020202020204" pitchFamily="34" charset="0"/>
              </a:rPr>
              <a:t>Input Data: Historical BTC prices only (Past Information)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+mn-lt"/>
                <a:cs typeface="Arial" panose="020B0604020202020204" pitchFamily="34" charset="0"/>
              </a:rPr>
              <a:t>Testing Logic: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+mn-lt"/>
                <a:cs typeface="Arial" panose="020B0604020202020204" pitchFamily="34" charset="0"/>
              </a:rPr>
              <a:t>If ML cannot predict future returns using past prices → Market is Weak Form Efficient</a:t>
            </a:r>
          </a:p>
          <a:p>
            <a:endParaRPr lang="uk-UA" dirty="0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5E8BC90C-A670-41A9-A4E9-5C44F752C8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FCF9BA9-AB08-46E1-A235-3AC71B2FE2C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7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881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A6FB0F3-C44D-42EB-8EEB-839EE77F7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69150"/>
            <a:ext cx="8234363" cy="3379199"/>
          </a:xfrm>
        </p:spPr>
        <p:txBody>
          <a:bodyPr/>
          <a:lstStyle/>
          <a:p>
            <a:r>
              <a:rPr lang="en-US" dirty="0">
                <a:latin typeface="+mn-lt"/>
                <a:cs typeface="Arial" panose="020B0604020202020204" pitchFamily="34" charset="0"/>
              </a:rPr>
              <a:t>2. Tools and Evaluation (ML Models &amp; Metrics)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+mn-lt"/>
                <a:cs typeface="Arial" panose="020B0604020202020204" pitchFamily="34" charset="0"/>
              </a:rPr>
              <a:t>ML Models: </a:t>
            </a:r>
            <a:r>
              <a:rPr lang="en-US" dirty="0">
                <a:latin typeface="+mn-lt"/>
              </a:rPr>
              <a:t>LSTM, </a:t>
            </a:r>
            <a:r>
              <a:rPr lang="en-US" dirty="0" err="1"/>
              <a:t>XGBoost</a:t>
            </a:r>
            <a:r>
              <a:rPr lang="en-US" dirty="0">
                <a:latin typeface="+mn-lt"/>
              </a:rPr>
              <a:t>, Random Forest, GRU, etc.</a:t>
            </a:r>
            <a:endParaRPr lang="en-US" dirty="0">
              <a:latin typeface="+mn-lt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+mn-lt"/>
                <a:cs typeface="Arial" panose="020B0604020202020204" pitchFamily="34" charset="0"/>
              </a:rPr>
              <a:t>Success Metrics: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>
                <a:latin typeface="+mn-lt"/>
                <a:cs typeface="Arial" panose="020B0604020202020204" pitchFamily="34" charset="0"/>
              </a:rPr>
              <a:t>Directional Prediction Accuracy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>
                <a:latin typeface="+mn-lt"/>
                <a:cs typeface="Arial" panose="020B0604020202020204" pitchFamily="34" charset="0"/>
              </a:rPr>
              <a:t>RMSE / MSE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>
                <a:latin typeface="+mn-lt"/>
                <a:cs typeface="Arial" panose="020B0604020202020204" pitchFamily="34" charset="0"/>
              </a:rPr>
              <a:t>Trading Strategy Profitability Simulation</a:t>
            </a:r>
          </a:p>
          <a:p>
            <a:endParaRPr lang="uk-UA" dirty="0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95B85424-420C-4E49-931A-2CE53F3BC3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FCF9BA9-AB08-46E1-A235-3AC71B2FE2C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8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7048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65125" y="1584325"/>
            <a:ext cx="7985125" cy="56197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de-DE" dirty="0">
                <a:ea typeface="+mj-ea"/>
              </a:rPr>
              <a:t>Thanks a lot for your attention</a:t>
            </a:r>
          </a:p>
        </p:txBody>
      </p:sp>
      <p:sp>
        <p:nvSpPr>
          <p:cNvPr id="33795" name="Inhaltsplatzhalter 2"/>
          <p:cNvSpPr>
            <a:spLocks noGrp="1"/>
          </p:cNvSpPr>
          <p:nvPr>
            <p:ph sz="half" idx="2"/>
          </p:nvPr>
        </p:nvSpPr>
        <p:spPr>
          <a:xfrm>
            <a:off x="365125" y="2449513"/>
            <a:ext cx="6924675" cy="2457450"/>
          </a:xfrm>
        </p:spPr>
        <p:txBody>
          <a:bodyPr/>
          <a:lstStyle/>
          <a:p>
            <a:pPr eaLnBrk="1" hangingPunct="1"/>
            <a:r>
              <a:rPr lang="de-DE" altLang="de-DE" sz="1600" b="1" dirty="0">
                <a:latin typeface="Arial" panose="020B0604020202020204" pitchFamily="34" charset="0"/>
                <a:cs typeface="Arial" panose="020B0604020202020204" pitchFamily="34" charset="0"/>
              </a:rPr>
              <a:t>RJDO</a:t>
            </a:r>
          </a:p>
          <a:p>
            <a:pPr eaLnBrk="1" hangingPunct="1"/>
            <a:endParaRPr lang="de-DE" alt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de-DE" altLang="de-DE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ster1_UniLeipzig_PPT Vorlage">
  <a:themeElements>
    <a:clrScheme name="Universität Leipzig">
      <a:dk1>
        <a:sysClr val="windowText" lastClr="000000"/>
      </a:dk1>
      <a:lt1>
        <a:sysClr val="window" lastClr="FFFFFF"/>
      </a:lt1>
      <a:dk2>
        <a:srgbClr val="262A31"/>
      </a:dk2>
      <a:lt2>
        <a:srgbClr val="FFFFFF"/>
      </a:lt2>
      <a:accent1>
        <a:srgbClr val="B02F2C"/>
      </a:accent1>
      <a:accent2>
        <a:srgbClr val="D64242"/>
      </a:accent2>
      <a:accent3>
        <a:srgbClr val="8AC2D1"/>
      </a:accent3>
      <a:accent4>
        <a:srgbClr val="262A31"/>
      </a:accent4>
      <a:accent5>
        <a:srgbClr val="EA9E9E"/>
      </a:accent5>
      <a:accent6>
        <a:srgbClr val="C9C9C9"/>
      </a:accent6>
      <a:hlink>
        <a:srgbClr val="B02F2C"/>
      </a:hlink>
      <a:folHlink>
        <a:srgbClr val="E06E6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äsentation1" id="{AF34A279-AF28-43F2-ABC2-47D9B1B138CB}" vid="{DD2B7E31-7D7E-491A-8902-5469ADF73115}"/>
    </a:ext>
  </a:extLst>
</a:theme>
</file>

<file path=ppt/theme/theme2.xml><?xml version="1.0" encoding="utf-8"?>
<a:theme xmlns:a="http://schemas.openxmlformats.org/drawingml/2006/main" name="Master2_UniLeipzig_PPT Vorlage">
  <a:themeElements>
    <a:clrScheme name="Universität Leipzig">
      <a:dk1>
        <a:sysClr val="windowText" lastClr="000000"/>
      </a:dk1>
      <a:lt1>
        <a:sysClr val="window" lastClr="FFFFFF"/>
      </a:lt1>
      <a:dk2>
        <a:srgbClr val="262A31"/>
      </a:dk2>
      <a:lt2>
        <a:srgbClr val="FFFFFF"/>
      </a:lt2>
      <a:accent1>
        <a:srgbClr val="B02F2C"/>
      </a:accent1>
      <a:accent2>
        <a:srgbClr val="D64242"/>
      </a:accent2>
      <a:accent3>
        <a:srgbClr val="8AC2D1"/>
      </a:accent3>
      <a:accent4>
        <a:srgbClr val="262A31"/>
      </a:accent4>
      <a:accent5>
        <a:srgbClr val="EA9E9E"/>
      </a:accent5>
      <a:accent6>
        <a:srgbClr val="C9C9C9"/>
      </a:accent6>
      <a:hlink>
        <a:srgbClr val="B02F2C"/>
      </a:hlink>
      <a:folHlink>
        <a:srgbClr val="E06E6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solidFill>
            <a:schemeClr val="accent1"/>
          </a:solidFill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>
          <a:defRPr i="0" smtClean="0">
            <a:latin typeface="+mn-lt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AF34A279-AF28-43F2-ABC2-47D9B1B138CB}" vid="{493468B7-7E68-4CF9-8FE6-B4E896B34C69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_Musterfoliensatz_16zu9</Template>
  <TotalTime>84</TotalTime>
  <Words>449</Words>
  <Application>Microsoft Office PowerPoint</Application>
  <PresentationFormat>On-screen Show (16:9)</PresentationFormat>
  <Paragraphs>75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Courier New</vt:lpstr>
      <vt:lpstr>Futura</vt:lpstr>
      <vt:lpstr>Symbol</vt:lpstr>
      <vt:lpstr>Wingdings</vt:lpstr>
      <vt:lpstr>Master1_UniLeipzig_PPT Vorlage</vt:lpstr>
      <vt:lpstr>Master2_UniLeipzig_PPT Vorlage</vt:lpstr>
      <vt:lpstr>Testing Market Efficiency of BTC using ML</vt:lpstr>
      <vt:lpstr>Agenda</vt:lpstr>
      <vt:lpstr>Background</vt:lpstr>
      <vt:lpstr>Data Set</vt:lpstr>
      <vt:lpstr>Sentiment analysis plan</vt:lpstr>
      <vt:lpstr>Categorizing users</vt:lpstr>
      <vt:lpstr>Prediction Plans and Testing BTC Market Efficiency</vt:lpstr>
      <vt:lpstr>PowerPoint Presentation</vt:lpstr>
      <vt:lpstr>Thanks a lot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Valecha, Rohit Naresh</dc:creator>
  <cp:lastModifiedBy>Valecha, Rohit Naresh</cp:lastModifiedBy>
  <cp:revision>18</cp:revision>
  <cp:lastPrinted>2017-09-28T12:33:25Z</cp:lastPrinted>
  <dcterms:created xsi:type="dcterms:W3CDTF">2025-11-28T16:01:54Z</dcterms:created>
  <dcterms:modified xsi:type="dcterms:W3CDTF">2025-12-03T23:32:13Z</dcterms:modified>
</cp:coreProperties>
</file>